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8288000" cy="10287000"/>
  <p:notesSz cx="6858000" cy="9144000"/>
  <p:embeddedFontLst>
    <p:embeddedFont>
      <p:font typeface="Anton" pitchFamily="2" charset="0"/>
      <p:regular r:id="rId32"/>
    </p:embeddedFont>
    <p:embeddedFont>
      <p:font typeface="Georgia Pro Bold" panose="020B0604020202020204" charset="0"/>
      <p:regular r:id="rId33"/>
    </p:embeddedFont>
    <p:embeddedFont>
      <p:font typeface="Raleway" pitchFamily="2" charset="0"/>
      <p:regular r:id="rId34"/>
    </p:embeddedFont>
    <p:embeddedFont>
      <p:font typeface="Raleway Bold" panose="020B0604020202020204" charset="0"/>
      <p:regular r:id="rId35"/>
    </p:embeddedFont>
    <p:embeddedFont>
      <p:font typeface="Times New Roman MT" panose="020B0604020202020204" charset="0"/>
      <p:regular r:id="rId36"/>
    </p:embeddedFont>
    <p:embeddedFont>
      <p:font typeface="Times New Roman MT Bold" panose="020B0604020202020204" charset="0"/>
      <p:regular r:id="rId37"/>
    </p:embeddedFont>
    <p:embeddedFont>
      <p:font typeface="Times New Roman MT Italics" panose="020B0604020202020204" charset="0"/>
      <p:regular r:id="rId38"/>
    </p:embeddedFont>
    <p:embeddedFont>
      <p:font typeface="TT Lakes Neue Bold" panose="020B0604020202020204" charset="0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0" d="100"/>
          <a:sy n="60" d="100"/>
        </p:scale>
        <p:origin x="370" y="16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sv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5.jpe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11" Type="http://schemas.openxmlformats.org/officeDocument/2006/relationships/image" Target="../media/image19.png"/><Relationship Id="rId5" Type="http://schemas.openxmlformats.org/officeDocument/2006/relationships/image" Target="../media/image17.svg"/><Relationship Id="rId10" Type="http://schemas.openxmlformats.org/officeDocument/2006/relationships/image" Target="../media/image18.png"/><Relationship Id="rId4" Type="http://schemas.openxmlformats.org/officeDocument/2006/relationships/image" Target="../media/image16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eg"/><Relationship Id="rId13" Type="http://schemas.openxmlformats.org/officeDocument/2006/relationships/image" Target="../media/image30.png"/><Relationship Id="rId18" Type="http://schemas.openxmlformats.org/officeDocument/2006/relationships/image" Target="../media/image35.png"/><Relationship Id="rId3" Type="http://schemas.openxmlformats.org/officeDocument/2006/relationships/image" Target="../media/image20.png"/><Relationship Id="rId7" Type="http://schemas.openxmlformats.org/officeDocument/2006/relationships/image" Target="../media/image24.jpeg"/><Relationship Id="rId12" Type="http://schemas.openxmlformats.org/officeDocument/2006/relationships/image" Target="../media/image29.png"/><Relationship Id="rId17" Type="http://schemas.openxmlformats.org/officeDocument/2006/relationships/image" Target="../media/image34.png"/><Relationship Id="rId2" Type="http://schemas.openxmlformats.org/officeDocument/2006/relationships/image" Target="../media/image5.jpeg"/><Relationship Id="rId16" Type="http://schemas.openxmlformats.org/officeDocument/2006/relationships/image" Target="../media/image3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jpeg"/><Relationship Id="rId11" Type="http://schemas.openxmlformats.org/officeDocument/2006/relationships/image" Target="../media/image28.png"/><Relationship Id="rId5" Type="http://schemas.openxmlformats.org/officeDocument/2006/relationships/image" Target="../media/image22.jpeg"/><Relationship Id="rId15" Type="http://schemas.openxmlformats.org/officeDocument/2006/relationships/image" Target="../media/image32.png"/><Relationship Id="rId10" Type="http://schemas.openxmlformats.org/officeDocument/2006/relationships/image" Target="../media/image27.svg"/><Relationship Id="rId19" Type="http://schemas.openxmlformats.org/officeDocument/2006/relationships/image" Target="../media/image36.png"/><Relationship Id="rId4" Type="http://schemas.openxmlformats.org/officeDocument/2006/relationships/image" Target="../media/image21.sv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37.jpeg"/><Relationship Id="rId7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0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9.png"/><Relationship Id="rId7" Type="http://schemas.openxmlformats.org/officeDocument/2006/relationships/image" Target="../media/image4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jpe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45.png"/><Relationship Id="rId7" Type="http://schemas.openxmlformats.org/officeDocument/2006/relationships/image" Target="../media/image1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8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4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9.png"/><Relationship Id="rId7" Type="http://schemas.openxmlformats.org/officeDocument/2006/relationships/image" Target="../media/image4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7.sv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68770"/>
            <a:ext cx="19278600" cy="11563350"/>
          </a:xfrm>
          <a:custGeom>
            <a:avLst/>
            <a:gdLst/>
            <a:ahLst/>
            <a:cxnLst/>
            <a:rect l="l" t="t" r="r" b="b"/>
            <a:pathLst>
              <a:path w="19278600" h="11563350">
                <a:moveTo>
                  <a:pt x="0" y="0"/>
                </a:moveTo>
                <a:lnTo>
                  <a:pt x="19278600" y="0"/>
                </a:lnTo>
                <a:lnTo>
                  <a:pt x="19278600" y="11563350"/>
                </a:lnTo>
                <a:lnTo>
                  <a:pt x="0" y="115633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3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-3048" y="2352713"/>
            <a:ext cx="18290934" cy="6531445"/>
            <a:chOff x="0" y="0"/>
            <a:chExt cx="18290934" cy="6531445"/>
          </a:xfrm>
        </p:grpSpPr>
        <p:sp>
          <p:nvSpPr>
            <p:cNvPr id="7" name="Freeform 7"/>
            <p:cNvSpPr/>
            <p:nvPr/>
          </p:nvSpPr>
          <p:spPr>
            <a:xfrm>
              <a:off x="3048" y="0"/>
              <a:ext cx="18287873" cy="6531483"/>
            </a:xfrm>
            <a:custGeom>
              <a:avLst/>
              <a:gdLst/>
              <a:ahLst/>
              <a:cxnLst/>
              <a:rect l="l" t="t" r="r" b="b"/>
              <a:pathLst>
                <a:path w="18287873" h="6531483">
                  <a:moveTo>
                    <a:pt x="0" y="0"/>
                  </a:moveTo>
                  <a:lnTo>
                    <a:pt x="0" y="6531483"/>
                  </a:lnTo>
                  <a:lnTo>
                    <a:pt x="18287873" y="6531483"/>
                  </a:lnTo>
                  <a:lnTo>
                    <a:pt x="182878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3456432" y="3483864"/>
            <a:ext cx="11372088" cy="5047488"/>
          </a:xfrm>
          <a:custGeom>
            <a:avLst/>
            <a:gdLst/>
            <a:ahLst/>
            <a:cxnLst/>
            <a:rect l="l" t="t" r="r" b="b"/>
            <a:pathLst>
              <a:path w="11372088" h="5047488">
                <a:moveTo>
                  <a:pt x="0" y="0"/>
                </a:moveTo>
                <a:lnTo>
                  <a:pt x="11372088" y="0"/>
                </a:lnTo>
                <a:lnTo>
                  <a:pt x="11372088" y="5047488"/>
                </a:lnTo>
                <a:lnTo>
                  <a:pt x="0" y="50474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362321" y="268900"/>
            <a:ext cx="1757315" cy="1757315"/>
            <a:chOff x="0" y="0"/>
            <a:chExt cx="2343086" cy="2343086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2343150" cy="2343150"/>
            </a:xfrm>
            <a:custGeom>
              <a:avLst/>
              <a:gdLst/>
              <a:ahLst/>
              <a:cxnLst/>
              <a:rect l="l" t="t" r="r" b="b"/>
              <a:pathLst>
                <a:path w="2343150" h="2343150">
                  <a:moveTo>
                    <a:pt x="1171575" y="0"/>
                  </a:moveTo>
                  <a:cubicBezTo>
                    <a:pt x="524510" y="0"/>
                    <a:pt x="0" y="524510"/>
                    <a:pt x="0" y="1171575"/>
                  </a:cubicBezTo>
                  <a:cubicBezTo>
                    <a:pt x="0" y="1818640"/>
                    <a:pt x="524510" y="2343150"/>
                    <a:pt x="1171575" y="2343150"/>
                  </a:cubicBezTo>
                  <a:cubicBezTo>
                    <a:pt x="1818640" y="2343150"/>
                    <a:pt x="2343150" y="1818640"/>
                    <a:pt x="2343150" y="1171575"/>
                  </a:cubicBezTo>
                  <a:cubicBezTo>
                    <a:pt x="2343150" y="524510"/>
                    <a:pt x="1818513" y="0"/>
                    <a:pt x="1171575" y="0"/>
                  </a:cubicBezTo>
                  <a:close/>
                </a:path>
              </a:pathLst>
            </a:custGeom>
            <a:blipFill>
              <a:blip r:embed="rId4"/>
              <a:stretch>
                <a:fillRect l="-223" r="-164" b="2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16082162" y="246393"/>
            <a:ext cx="1779822" cy="1779822"/>
            <a:chOff x="0" y="0"/>
            <a:chExt cx="2373097" cy="237309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73122" cy="2372995"/>
            </a:xfrm>
            <a:custGeom>
              <a:avLst/>
              <a:gdLst/>
              <a:ahLst/>
              <a:cxnLst/>
              <a:rect l="l" t="t" r="r" b="b"/>
              <a:pathLst>
                <a:path w="2373122" h="2372995">
                  <a:moveTo>
                    <a:pt x="1186561" y="0"/>
                  </a:moveTo>
                  <a:cubicBezTo>
                    <a:pt x="532003" y="0"/>
                    <a:pt x="1270" y="529971"/>
                    <a:pt x="0" y="1184275"/>
                  </a:cubicBezTo>
                  <a:lnTo>
                    <a:pt x="0" y="1184275"/>
                  </a:lnTo>
                  <a:lnTo>
                    <a:pt x="0" y="1188720"/>
                  </a:lnTo>
                  <a:lnTo>
                    <a:pt x="0" y="1188720"/>
                  </a:lnTo>
                  <a:cubicBezTo>
                    <a:pt x="1270" y="1843024"/>
                    <a:pt x="532003" y="2372995"/>
                    <a:pt x="1186561" y="2372995"/>
                  </a:cubicBezTo>
                  <a:cubicBezTo>
                    <a:pt x="1841881" y="2372995"/>
                    <a:pt x="2373122" y="1841754"/>
                    <a:pt x="2373122" y="1186434"/>
                  </a:cubicBezTo>
                  <a:cubicBezTo>
                    <a:pt x="2373122" y="531114"/>
                    <a:pt x="1841881" y="0"/>
                    <a:pt x="1186561" y="0"/>
                  </a:cubicBezTo>
                  <a:close/>
                </a:path>
              </a:pathLst>
            </a:custGeom>
            <a:blipFill>
              <a:blip r:embed="rId5"/>
              <a:stretch>
                <a:fillRect t="-672" r="1" b="-50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3628377" y="3450041"/>
            <a:ext cx="11251673" cy="3381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72"/>
              </a:lnSpc>
            </a:pPr>
            <a:r>
              <a:rPr lang="en-US" sz="5513" b="1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Network Security Fundamentals  &amp; FortiGate Integration</a:t>
            </a:r>
          </a:p>
          <a:p>
            <a:pPr algn="ctr">
              <a:lnSpc>
                <a:spcPts val="3114"/>
              </a:lnSpc>
            </a:pPr>
            <a:r>
              <a:rPr lang="en-US" sz="2624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Building a Resilient, Segmented, and Secured Network Environment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556544" y="7161190"/>
            <a:ext cx="3215478" cy="1198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49"/>
              </a:lnSpc>
            </a:pPr>
            <a:r>
              <a:rPr lang="en-US" sz="2395" b="1">
                <a:solidFill>
                  <a:srgbClr val="FFFFFF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Date  November 25, 2025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6799376" y="9806388"/>
            <a:ext cx="938070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2075688" y="4550216"/>
            <a:ext cx="5450424" cy="3462309"/>
          </a:xfrm>
          <a:custGeom>
            <a:avLst/>
            <a:gdLst/>
            <a:ahLst/>
            <a:cxnLst/>
            <a:rect l="l" t="t" r="r" b="b"/>
            <a:pathLst>
              <a:path w="5450424" h="3462309">
                <a:moveTo>
                  <a:pt x="0" y="0"/>
                </a:moveTo>
                <a:lnTo>
                  <a:pt x="5450424" y="0"/>
                </a:lnTo>
                <a:lnTo>
                  <a:pt x="5450424" y="3462309"/>
                </a:lnTo>
                <a:lnTo>
                  <a:pt x="0" y="34623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382" b="-135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2075774" y="4550216"/>
            <a:ext cx="5453034" cy="3457575"/>
          </a:xfrm>
          <a:custGeom>
            <a:avLst/>
            <a:gdLst/>
            <a:ahLst/>
            <a:cxnLst/>
            <a:rect l="l" t="t" r="r" b="b"/>
            <a:pathLst>
              <a:path w="5453034" h="3457575">
                <a:moveTo>
                  <a:pt x="0" y="0"/>
                </a:moveTo>
                <a:lnTo>
                  <a:pt x="5453034" y="0"/>
                </a:lnTo>
                <a:lnTo>
                  <a:pt x="5453034" y="3457575"/>
                </a:lnTo>
                <a:lnTo>
                  <a:pt x="0" y="345757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151864" y="1066800"/>
            <a:ext cx="1097280" cy="295656"/>
          </a:xfrm>
          <a:custGeom>
            <a:avLst/>
            <a:gdLst/>
            <a:ahLst/>
            <a:cxnLst/>
            <a:rect l="l" t="t" r="r" b="b"/>
            <a:pathLst>
              <a:path w="1097280" h="295656">
                <a:moveTo>
                  <a:pt x="0" y="0"/>
                </a:moveTo>
                <a:lnTo>
                  <a:pt x="1097280" y="0"/>
                </a:lnTo>
                <a:lnTo>
                  <a:pt x="1097280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059912" y="1066800"/>
            <a:ext cx="923544" cy="295656"/>
          </a:xfrm>
          <a:custGeom>
            <a:avLst/>
            <a:gdLst/>
            <a:ahLst/>
            <a:cxnLst/>
            <a:rect l="l" t="t" r="r" b="b"/>
            <a:pathLst>
              <a:path w="923544" h="295656">
                <a:moveTo>
                  <a:pt x="0" y="0"/>
                </a:moveTo>
                <a:lnTo>
                  <a:pt x="923544" y="0"/>
                </a:lnTo>
                <a:lnTo>
                  <a:pt x="92354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960608" y="1066800"/>
            <a:ext cx="707136" cy="295656"/>
          </a:xfrm>
          <a:custGeom>
            <a:avLst/>
            <a:gdLst/>
            <a:ahLst/>
            <a:cxnLst/>
            <a:rect l="l" t="t" r="r" b="b"/>
            <a:pathLst>
              <a:path w="707136" h="295656">
                <a:moveTo>
                  <a:pt x="0" y="0"/>
                </a:moveTo>
                <a:lnTo>
                  <a:pt x="707136" y="0"/>
                </a:lnTo>
                <a:lnTo>
                  <a:pt x="707136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2438888" y="1066800"/>
            <a:ext cx="816864" cy="295656"/>
          </a:xfrm>
          <a:custGeom>
            <a:avLst/>
            <a:gdLst/>
            <a:ahLst/>
            <a:cxnLst/>
            <a:rect l="l" t="t" r="r" b="b"/>
            <a:pathLst>
              <a:path w="816864" h="295656">
                <a:moveTo>
                  <a:pt x="0" y="0"/>
                </a:moveTo>
                <a:lnTo>
                  <a:pt x="816864" y="0"/>
                </a:lnTo>
                <a:lnTo>
                  <a:pt x="81686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904186" y="2707253"/>
            <a:ext cx="6083808" cy="1694688"/>
          </a:xfrm>
          <a:custGeom>
            <a:avLst/>
            <a:gdLst/>
            <a:ahLst/>
            <a:cxnLst/>
            <a:rect l="l" t="t" r="r" b="b"/>
            <a:pathLst>
              <a:path w="6083808" h="1694688">
                <a:moveTo>
                  <a:pt x="0" y="0"/>
                </a:moveTo>
                <a:lnTo>
                  <a:pt x="6083808" y="0"/>
                </a:lnTo>
                <a:lnTo>
                  <a:pt x="6083808" y="1694688"/>
                </a:lnTo>
                <a:lnTo>
                  <a:pt x="0" y="1694688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8263128" y="4294632"/>
            <a:ext cx="9189720" cy="3840480"/>
          </a:xfrm>
          <a:custGeom>
            <a:avLst/>
            <a:gdLst/>
            <a:ahLst/>
            <a:cxnLst/>
            <a:rect l="l" t="t" r="r" b="b"/>
            <a:pathLst>
              <a:path w="9189720" h="3840480">
                <a:moveTo>
                  <a:pt x="0" y="0"/>
                </a:moveTo>
                <a:lnTo>
                  <a:pt x="9189720" y="0"/>
                </a:lnTo>
                <a:lnTo>
                  <a:pt x="9189720" y="3840480"/>
                </a:lnTo>
                <a:lnTo>
                  <a:pt x="0" y="384048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8381019" y="4490885"/>
            <a:ext cx="123825" cy="123825"/>
            <a:chOff x="0" y="0"/>
            <a:chExt cx="123825" cy="1238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8381019" y="5300510"/>
            <a:ext cx="123825" cy="123825"/>
            <a:chOff x="0" y="0"/>
            <a:chExt cx="123825" cy="1238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8381019" y="6110135"/>
            <a:ext cx="123825" cy="123825"/>
            <a:chOff x="0" y="0"/>
            <a:chExt cx="123825" cy="123825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8381019" y="6919760"/>
            <a:ext cx="123825" cy="123825"/>
            <a:chOff x="0" y="0"/>
            <a:chExt cx="123825" cy="12382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8381019" y="7729385"/>
            <a:ext cx="123825" cy="123825"/>
            <a:chOff x="0" y="0"/>
            <a:chExt cx="123825" cy="12382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16781783" y="9806388"/>
            <a:ext cx="974093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075688" y="2545328"/>
            <a:ext cx="5740803" cy="15155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779"/>
              </a:lnSpc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Prepared By :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93563" y="4038943"/>
            <a:ext cx="8820979" cy="39269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374"/>
              </a:lnSpc>
            </a:pPr>
            <a:r>
              <a:rPr lang="en-US" sz="30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Mostafa Hossam eldein Ebrahem</a:t>
            </a:r>
          </a:p>
          <a:p>
            <a:pPr algn="l">
              <a:lnSpc>
                <a:spcPts val="6374"/>
              </a:lnSpc>
            </a:pPr>
            <a:r>
              <a:rPr lang="en-US" sz="30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Sara Hatem Mohamed  </a:t>
            </a:r>
          </a:p>
          <a:p>
            <a:pPr algn="l">
              <a:lnSpc>
                <a:spcPts val="6374"/>
              </a:lnSpc>
            </a:pPr>
            <a:r>
              <a:rPr lang="en-US" sz="30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Rawda Ayman Saad Rashed</a:t>
            </a:r>
          </a:p>
          <a:p>
            <a:pPr algn="l">
              <a:lnSpc>
                <a:spcPts val="6374"/>
              </a:lnSpc>
            </a:pPr>
            <a:r>
              <a:rPr lang="en-US" sz="30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Omar Adil Selim</a:t>
            </a:r>
          </a:p>
          <a:p>
            <a:pPr algn="l">
              <a:lnSpc>
                <a:spcPts val="6374"/>
              </a:lnSpc>
            </a:pPr>
            <a:r>
              <a:rPr lang="en-US" sz="30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Shaza Muhmad Sofy Abdelwahed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4231034"/>
            <a:ext cx="6393894" cy="4061631"/>
          </a:xfrm>
          <a:custGeom>
            <a:avLst/>
            <a:gdLst/>
            <a:ahLst/>
            <a:cxnLst/>
            <a:rect l="l" t="t" r="r" b="b"/>
            <a:pathLst>
              <a:path w="6393894" h="4061631">
                <a:moveTo>
                  <a:pt x="0" y="0"/>
                </a:moveTo>
                <a:lnTo>
                  <a:pt x="6393894" y="0"/>
                </a:lnTo>
                <a:lnTo>
                  <a:pt x="6393894" y="4061631"/>
                </a:lnTo>
                <a:lnTo>
                  <a:pt x="0" y="406163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3671" r="-75682" b="-4179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28738" y="4231034"/>
            <a:ext cx="6397000" cy="4057650"/>
          </a:xfrm>
          <a:custGeom>
            <a:avLst/>
            <a:gdLst/>
            <a:ahLst/>
            <a:cxnLst/>
            <a:rect l="l" t="t" r="r" b="b"/>
            <a:pathLst>
              <a:path w="6397000" h="4057650">
                <a:moveTo>
                  <a:pt x="0" y="0"/>
                </a:moveTo>
                <a:lnTo>
                  <a:pt x="6397000" y="0"/>
                </a:lnTo>
                <a:lnTo>
                  <a:pt x="6397000" y="4057650"/>
                </a:lnTo>
                <a:lnTo>
                  <a:pt x="0" y="40576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151864" y="1066800"/>
            <a:ext cx="1097280" cy="295656"/>
          </a:xfrm>
          <a:custGeom>
            <a:avLst/>
            <a:gdLst/>
            <a:ahLst/>
            <a:cxnLst/>
            <a:rect l="l" t="t" r="r" b="b"/>
            <a:pathLst>
              <a:path w="1097280" h="295656">
                <a:moveTo>
                  <a:pt x="0" y="0"/>
                </a:moveTo>
                <a:lnTo>
                  <a:pt x="1097280" y="0"/>
                </a:lnTo>
                <a:lnTo>
                  <a:pt x="1097280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6059912" y="1066800"/>
            <a:ext cx="923544" cy="295656"/>
          </a:xfrm>
          <a:custGeom>
            <a:avLst/>
            <a:gdLst/>
            <a:ahLst/>
            <a:cxnLst/>
            <a:rect l="l" t="t" r="r" b="b"/>
            <a:pathLst>
              <a:path w="923544" h="295656">
                <a:moveTo>
                  <a:pt x="0" y="0"/>
                </a:moveTo>
                <a:lnTo>
                  <a:pt x="923544" y="0"/>
                </a:lnTo>
                <a:lnTo>
                  <a:pt x="92354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0960608" y="1066800"/>
            <a:ext cx="707136" cy="295656"/>
          </a:xfrm>
          <a:custGeom>
            <a:avLst/>
            <a:gdLst/>
            <a:ahLst/>
            <a:cxnLst/>
            <a:rect l="l" t="t" r="r" b="b"/>
            <a:pathLst>
              <a:path w="707136" h="295656">
                <a:moveTo>
                  <a:pt x="0" y="0"/>
                </a:moveTo>
                <a:lnTo>
                  <a:pt x="707136" y="0"/>
                </a:lnTo>
                <a:lnTo>
                  <a:pt x="707136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2438888" y="1066800"/>
            <a:ext cx="816864" cy="295656"/>
          </a:xfrm>
          <a:custGeom>
            <a:avLst/>
            <a:gdLst/>
            <a:ahLst/>
            <a:cxnLst/>
            <a:rect l="l" t="t" r="r" b="b"/>
            <a:pathLst>
              <a:path w="816864" h="295656">
                <a:moveTo>
                  <a:pt x="0" y="0"/>
                </a:moveTo>
                <a:lnTo>
                  <a:pt x="816864" y="0"/>
                </a:lnTo>
                <a:lnTo>
                  <a:pt x="81686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454152" y="1776984"/>
            <a:ext cx="7696200" cy="1627632"/>
          </a:xfrm>
          <a:custGeom>
            <a:avLst/>
            <a:gdLst/>
            <a:ahLst/>
            <a:cxnLst/>
            <a:rect l="l" t="t" r="r" b="b"/>
            <a:pathLst>
              <a:path w="7696200" h="1627632">
                <a:moveTo>
                  <a:pt x="0" y="0"/>
                </a:moveTo>
                <a:lnTo>
                  <a:pt x="7696200" y="0"/>
                </a:lnTo>
                <a:lnTo>
                  <a:pt x="7696200" y="1627632"/>
                </a:lnTo>
                <a:lnTo>
                  <a:pt x="0" y="16276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8150352" y="2538984"/>
            <a:ext cx="9384792" cy="6477000"/>
          </a:xfrm>
          <a:custGeom>
            <a:avLst/>
            <a:gdLst/>
            <a:ahLst/>
            <a:cxnLst/>
            <a:rect l="l" t="t" r="r" b="b"/>
            <a:pathLst>
              <a:path w="9384792" h="6477000">
                <a:moveTo>
                  <a:pt x="0" y="0"/>
                </a:moveTo>
                <a:lnTo>
                  <a:pt x="9384792" y="0"/>
                </a:lnTo>
                <a:lnTo>
                  <a:pt x="9384792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2" r="-32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14829" y="802110"/>
            <a:ext cx="580292" cy="580292"/>
            <a:chOff x="0" y="0"/>
            <a:chExt cx="580288" cy="580288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80263" cy="580263"/>
            </a:xfrm>
            <a:custGeom>
              <a:avLst/>
              <a:gdLst/>
              <a:ahLst/>
              <a:cxnLst/>
              <a:rect l="l" t="t" r="r" b="b"/>
              <a:pathLst>
                <a:path w="580263" h="580263">
                  <a:moveTo>
                    <a:pt x="0" y="580263"/>
                  </a:moveTo>
                  <a:lnTo>
                    <a:pt x="580263" y="580263"/>
                  </a:lnTo>
                  <a:lnTo>
                    <a:pt x="5802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8261690" y="2756849"/>
            <a:ext cx="120301" cy="120301"/>
            <a:chOff x="0" y="0"/>
            <a:chExt cx="120294" cy="12029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20396" cy="120396"/>
            </a:xfrm>
            <a:custGeom>
              <a:avLst/>
              <a:gdLst/>
              <a:ahLst/>
              <a:cxnLst/>
              <a:rect l="l" t="t" r="r" b="b"/>
              <a:pathLst>
                <a:path w="120396" h="120396">
                  <a:moveTo>
                    <a:pt x="120269" y="60198"/>
                  </a:moveTo>
                  <a:cubicBezTo>
                    <a:pt x="120269" y="64135"/>
                    <a:pt x="119888" y="68072"/>
                    <a:pt x="119126" y="71882"/>
                  </a:cubicBezTo>
                  <a:cubicBezTo>
                    <a:pt x="118364" y="75692"/>
                    <a:pt x="117221" y="79502"/>
                    <a:pt x="115697" y="83185"/>
                  </a:cubicBezTo>
                  <a:cubicBezTo>
                    <a:pt x="114173" y="86868"/>
                    <a:pt x="112395" y="90297"/>
                    <a:pt x="110109" y="93599"/>
                  </a:cubicBezTo>
                  <a:cubicBezTo>
                    <a:pt x="107823" y="96901"/>
                    <a:pt x="105410" y="99949"/>
                    <a:pt x="102616" y="102743"/>
                  </a:cubicBezTo>
                  <a:cubicBezTo>
                    <a:pt x="99822" y="105537"/>
                    <a:pt x="96774" y="108077"/>
                    <a:pt x="93472" y="110236"/>
                  </a:cubicBezTo>
                  <a:cubicBezTo>
                    <a:pt x="90170" y="112395"/>
                    <a:pt x="86741" y="114300"/>
                    <a:pt x="83058" y="115824"/>
                  </a:cubicBezTo>
                  <a:cubicBezTo>
                    <a:pt x="79375" y="117348"/>
                    <a:pt x="75692" y="118491"/>
                    <a:pt x="71755" y="119253"/>
                  </a:cubicBezTo>
                  <a:cubicBezTo>
                    <a:pt x="67818" y="120015"/>
                    <a:pt x="64008" y="120396"/>
                    <a:pt x="60071" y="120396"/>
                  </a:cubicBezTo>
                  <a:cubicBezTo>
                    <a:pt x="56134" y="120396"/>
                    <a:pt x="52197" y="120015"/>
                    <a:pt x="48387" y="119253"/>
                  </a:cubicBezTo>
                  <a:cubicBezTo>
                    <a:pt x="44577" y="118491"/>
                    <a:pt x="40767" y="117348"/>
                    <a:pt x="37084" y="115824"/>
                  </a:cubicBezTo>
                  <a:cubicBezTo>
                    <a:pt x="33401" y="114300"/>
                    <a:pt x="29972" y="112522"/>
                    <a:pt x="26670" y="110236"/>
                  </a:cubicBezTo>
                  <a:cubicBezTo>
                    <a:pt x="23368" y="107950"/>
                    <a:pt x="20320" y="105537"/>
                    <a:pt x="17526" y="102743"/>
                  </a:cubicBezTo>
                  <a:cubicBezTo>
                    <a:pt x="14732" y="99949"/>
                    <a:pt x="12319" y="96901"/>
                    <a:pt x="10160" y="93599"/>
                  </a:cubicBezTo>
                  <a:cubicBezTo>
                    <a:pt x="8001" y="90297"/>
                    <a:pt x="6096" y="86868"/>
                    <a:pt x="4572" y="83185"/>
                  </a:cubicBezTo>
                  <a:cubicBezTo>
                    <a:pt x="3048" y="79502"/>
                    <a:pt x="1905" y="75819"/>
                    <a:pt x="1143" y="71882"/>
                  </a:cubicBezTo>
                  <a:cubicBezTo>
                    <a:pt x="381" y="67945"/>
                    <a:pt x="0" y="64135"/>
                    <a:pt x="0" y="60198"/>
                  </a:cubicBezTo>
                  <a:cubicBezTo>
                    <a:pt x="0" y="56261"/>
                    <a:pt x="381" y="52324"/>
                    <a:pt x="1143" y="48514"/>
                  </a:cubicBezTo>
                  <a:cubicBezTo>
                    <a:pt x="1905" y="44704"/>
                    <a:pt x="3048" y="40894"/>
                    <a:pt x="4572" y="37211"/>
                  </a:cubicBezTo>
                  <a:cubicBezTo>
                    <a:pt x="6096" y="33528"/>
                    <a:pt x="7874" y="30099"/>
                    <a:pt x="10160" y="26797"/>
                  </a:cubicBezTo>
                  <a:cubicBezTo>
                    <a:pt x="12446" y="23495"/>
                    <a:pt x="14859" y="20447"/>
                    <a:pt x="17653" y="17653"/>
                  </a:cubicBezTo>
                  <a:cubicBezTo>
                    <a:pt x="20447" y="14859"/>
                    <a:pt x="23495" y="12319"/>
                    <a:pt x="26670" y="10160"/>
                  </a:cubicBezTo>
                  <a:cubicBezTo>
                    <a:pt x="29845" y="8001"/>
                    <a:pt x="33401" y="6096"/>
                    <a:pt x="37084" y="4572"/>
                  </a:cubicBezTo>
                  <a:cubicBezTo>
                    <a:pt x="40767" y="3048"/>
                    <a:pt x="44450" y="1905"/>
                    <a:pt x="48387" y="1143"/>
                  </a:cubicBezTo>
                  <a:cubicBezTo>
                    <a:pt x="52324" y="381"/>
                    <a:pt x="56261" y="0"/>
                    <a:pt x="60198" y="0"/>
                  </a:cubicBezTo>
                  <a:cubicBezTo>
                    <a:pt x="64135" y="0"/>
                    <a:pt x="68072" y="381"/>
                    <a:pt x="71882" y="1143"/>
                  </a:cubicBezTo>
                  <a:cubicBezTo>
                    <a:pt x="75692" y="1905"/>
                    <a:pt x="79502" y="3048"/>
                    <a:pt x="83185" y="4572"/>
                  </a:cubicBezTo>
                  <a:cubicBezTo>
                    <a:pt x="86868" y="6096"/>
                    <a:pt x="90297" y="7874"/>
                    <a:pt x="93599" y="10160"/>
                  </a:cubicBezTo>
                  <a:cubicBezTo>
                    <a:pt x="96901" y="12446"/>
                    <a:pt x="99949" y="14859"/>
                    <a:pt x="102743" y="17653"/>
                  </a:cubicBezTo>
                  <a:cubicBezTo>
                    <a:pt x="105537" y="20447"/>
                    <a:pt x="108077" y="23495"/>
                    <a:pt x="110236" y="26797"/>
                  </a:cubicBezTo>
                  <a:cubicBezTo>
                    <a:pt x="112395" y="30099"/>
                    <a:pt x="114300" y="33528"/>
                    <a:pt x="115824" y="37211"/>
                  </a:cubicBezTo>
                  <a:cubicBezTo>
                    <a:pt x="117348" y="40894"/>
                    <a:pt x="118491" y="44577"/>
                    <a:pt x="119253" y="48514"/>
                  </a:cubicBezTo>
                  <a:cubicBezTo>
                    <a:pt x="120015" y="52451"/>
                    <a:pt x="120396" y="56261"/>
                    <a:pt x="120396" y="6019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" name="Group 22"/>
          <p:cNvGrpSpPr>
            <a:grpSpLocks noChangeAspect="1"/>
          </p:cNvGrpSpPr>
          <p:nvPr/>
        </p:nvGrpSpPr>
        <p:grpSpPr>
          <a:xfrm>
            <a:off x="8261690" y="4237434"/>
            <a:ext cx="120301" cy="120301"/>
            <a:chOff x="0" y="0"/>
            <a:chExt cx="120294" cy="120294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20396" cy="120396"/>
            </a:xfrm>
            <a:custGeom>
              <a:avLst/>
              <a:gdLst/>
              <a:ahLst/>
              <a:cxnLst/>
              <a:rect l="l" t="t" r="r" b="b"/>
              <a:pathLst>
                <a:path w="120396" h="120396">
                  <a:moveTo>
                    <a:pt x="120269" y="60198"/>
                  </a:moveTo>
                  <a:cubicBezTo>
                    <a:pt x="120269" y="64135"/>
                    <a:pt x="119888" y="68072"/>
                    <a:pt x="119126" y="71882"/>
                  </a:cubicBezTo>
                  <a:cubicBezTo>
                    <a:pt x="118364" y="75692"/>
                    <a:pt x="117221" y="79502"/>
                    <a:pt x="115697" y="83185"/>
                  </a:cubicBezTo>
                  <a:cubicBezTo>
                    <a:pt x="114173" y="86868"/>
                    <a:pt x="112395" y="90297"/>
                    <a:pt x="110109" y="93599"/>
                  </a:cubicBezTo>
                  <a:cubicBezTo>
                    <a:pt x="107823" y="96901"/>
                    <a:pt x="105410" y="99949"/>
                    <a:pt x="102616" y="102743"/>
                  </a:cubicBezTo>
                  <a:cubicBezTo>
                    <a:pt x="99822" y="105537"/>
                    <a:pt x="96774" y="108077"/>
                    <a:pt x="93472" y="110236"/>
                  </a:cubicBezTo>
                  <a:cubicBezTo>
                    <a:pt x="90170" y="112395"/>
                    <a:pt x="86741" y="114300"/>
                    <a:pt x="83058" y="115824"/>
                  </a:cubicBezTo>
                  <a:cubicBezTo>
                    <a:pt x="79375" y="117348"/>
                    <a:pt x="75692" y="118491"/>
                    <a:pt x="71755" y="119253"/>
                  </a:cubicBezTo>
                  <a:cubicBezTo>
                    <a:pt x="67818" y="120015"/>
                    <a:pt x="64008" y="120396"/>
                    <a:pt x="60071" y="120396"/>
                  </a:cubicBezTo>
                  <a:cubicBezTo>
                    <a:pt x="56134" y="120396"/>
                    <a:pt x="52197" y="120015"/>
                    <a:pt x="48387" y="119253"/>
                  </a:cubicBezTo>
                  <a:cubicBezTo>
                    <a:pt x="44577" y="118491"/>
                    <a:pt x="40767" y="117348"/>
                    <a:pt x="37084" y="115824"/>
                  </a:cubicBezTo>
                  <a:cubicBezTo>
                    <a:pt x="33401" y="114300"/>
                    <a:pt x="29972" y="112522"/>
                    <a:pt x="26670" y="110236"/>
                  </a:cubicBezTo>
                  <a:cubicBezTo>
                    <a:pt x="23368" y="107950"/>
                    <a:pt x="20320" y="105537"/>
                    <a:pt x="17526" y="102743"/>
                  </a:cubicBezTo>
                  <a:cubicBezTo>
                    <a:pt x="14732" y="99949"/>
                    <a:pt x="12319" y="96901"/>
                    <a:pt x="10160" y="93599"/>
                  </a:cubicBezTo>
                  <a:cubicBezTo>
                    <a:pt x="8001" y="90297"/>
                    <a:pt x="6096" y="86868"/>
                    <a:pt x="4572" y="83185"/>
                  </a:cubicBezTo>
                  <a:cubicBezTo>
                    <a:pt x="3048" y="79502"/>
                    <a:pt x="1905" y="75819"/>
                    <a:pt x="1143" y="71882"/>
                  </a:cubicBezTo>
                  <a:cubicBezTo>
                    <a:pt x="381" y="67945"/>
                    <a:pt x="0" y="64135"/>
                    <a:pt x="0" y="60198"/>
                  </a:cubicBezTo>
                  <a:cubicBezTo>
                    <a:pt x="0" y="56261"/>
                    <a:pt x="381" y="52324"/>
                    <a:pt x="1143" y="48514"/>
                  </a:cubicBezTo>
                  <a:cubicBezTo>
                    <a:pt x="1905" y="44704"/>
                    <a:pt x="3048" y="40894"/>
                    <a:pt x="4572" y="37211"/>
                  </a:cubicBezTo>
                  <a:cubicBezTo>
                    <a:pt x="6096" y="33528"/>
                    <a:pt x="7874" y="30099"/>
                    <a:pt x="10160" y="26797"/>
                  </a:cubicBezTo>
                  <a:cubicBezTo>
                    <a:pt x="12446" y="23495"/>
                    <a:pt x="14859" y="20447"/>
                    <a:pt x="17653" y="17653"/>
                  </a:cubicBezTo>
                  <a:cubicBezTo>
                    <a:pt x="20447" y="14859"/>
                    <a:pt x="23495" y="12319"/>
                    <a:pt x="26670" y="10160"/>
                  </a:cubicBezTo>
                  <a:cubicBezTo>
                    <a:pt x="29845" y="8001"/>
                    <a:pt x="33401" y="6096"/>
                    <a:pt x="37084" y="4572"/>
                  </a:cubicBezTo>
                  <a:cubicBezTo>
                    <a:pt x="40767" y="3048"/>
                    <a:pt x="44450" y="1905"/>
                    <a:pt x="48387" y="1143"/>
                  </a:cubicBezTo>
                  <a:cubicBezTo>
                    <a:pt x="52324" y="381"/>
                    <a:pt x="56261" y="0"/>
                    <a:pt x="60198" y="0"/>
                  </a:cubicBezTo>
                  <a:cubicBezTo>
                    <a:pt x="64135" y="0"/>
                    <a:pt x="68072" y="381"/>
                    <a:pt x="71882" y="1143"/>
                  </a:cubicBezTo>
                  <a:cubicBezTo>
                    <a:pt x="75692" y="1905"/>
                    <a:pt x="79502" y="3048"/>
                    <a:pt x="83185" y="4572"/>
                  </a:cubicBezTo>
                  <a:cubicBezTo>
                    <a:pt x="86868" y="6096"/>
                    <a:pt x="90297" y="7874"/>
                    <a:pt x="93599" y="10160"/>
                  </a:cubicBezTo>
                  <a:cubicBezTo>
                    <a:pt x="96901" y="12446"/>
                    <a:pt x="99949" y="14859"/>
                    <a:pt x="102743" y="17653"/>
                  </a:cubicBezTo>
                  <a:cubicBezTo>
                    <a:pt x="105537" y="20447"/>
                    <a:pt x="108077" y="23495"/>
                    <a:pt x="110236" y="26797"/>
                  </a:cubicBezTo>
                  <a:cubicBezTo>
                    <a:pt x="112395" y="30099"/>
                    <a:pt x="114300" y="33528"/>
                    <a:pt x="115824" y="37211"/>
                  </a:cubicBezTo>
                  <a:cubicBezTo>
                    <a:pt x="117348" y="40894"/>
                    <a:pt x="118491" y="44577"/>
                    <a:pt x="119253" y="48514"/>
                  </a:cubicBezTo>
                  <a:cubicBezTo>
                    <a:pt x="120015" y="52451"/>
                    <a:pt x="120396" y="56261"/>
                    <a:pt x="120396" y="6019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Group 24"/>
          <p:cNvGrpSpPr>
            <a:grpSpLocks noChangeAspect="1"/>
          </p:cNvGrpSpPr>
          <p:nvPr/>
        </p:nvGrpSpPr>
        <p:grpSpPr>
          <a:xfrm>
            <a:off x="8261690" y="5718010"/>
            <a:ext cx="120301" cy="120301"/>
            <a:chOff x="0" y="0"/>
            <a:chExt cx="120294" cy="120294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120396" cy="120396"/>
            </a:xfrm>
            <a:custGeom>
              <a:avLst/>
              <a:gdLst/>
              <a:ahLst/>
              <a:cxnLst/>
              <a:rect l="l" t="t" r="r" b="b"/>
              <a:pathLst>
                <a:path w="120396" h="120396">
                  <a:moveTo>
                    <a:pt x="120269" y="60198"/>
                  </a:moveTo>
                  <a:cubicBezTo>
                    <a:pt x="120269" y="64135"/>
                    <a:pt x="119888" y="68072"/>
                    <a:pt x="119126" y="71882"/>
                  </a:cubicBezTo>
                  <a:cubicBezTo>
                    <a:pt x="118364" y="75692"/>
                    <a:pt x="117221" y="79502"/>
                    <a:pt x="115697" y="83185"/>
                  </a:cubicBezTo>
                  <a:cubicBezTo>
                    <a:pt x="114173" y="86868"/>
                    <a:pt x="112395" y="90297"/>
                    <a:pt x="110109" y="93599"/>
                  </a:cubicBezTo>
                  <a:cubicBezTo>
                    <a:pt x="107823" y="96901"/>
                    <a:pt x="105410" y="99949"/>
                    <a:pt x="102616" y="102743"/>
                  </a:cubicBezTo>
                  <a:cubicBezTo>
                    <a:pt x="99822" y="105537"/>
                    <a:pt x="96774" y="108077"/>
                    <a:pt x="93472" y="110236"/>
                  </a:cubicBezTo>
                  <a:cubicBezTo>
                    <a:pt x="90170" y="112395"/>
                    <a:pt x="86741" y="114300"/>
                    <a:pt x="83058" y="115824"/>
                  </a:cubicBezTo>
                  <a:cubicBezTo>
                    <a:pt x="79375" y="117348"/>
                    <a:pt x="75692" y="118491"/>
                    <a:pt x="71755" y="119253"/>
                  </a:cubicBezTo>
                  <a:cubicBezTo>
                    <a:pt x="67818" y="120015"/>
                    <a:pt x="64008" y="120396"/>
                    <a:pt x="60071" y="120396"/>
                  </a:cubicBezTo>
                  <a:cubicBezTo>
                    <a:pt x="56134" y="120396"/>
                    <a:pt x="52197" y="120015"/>
                    <a:pt x="48387" y="119253"/>
                  </a:cubicBezTo>
                  <a:cubicBezTo>
                    <a:pt x="44577" y="118491"/>
                    <a:pt x="40767" y="117348"/>
                    <a:pt x="37084" y="115824"/>
                  </a:cubicBezTo>
                  <a:cubicBezTo>
                    <a:pt x="33401" y="114300"/>
                    <a:pt x="29972" y="112522"/>
                    <a:pt x="26670" y="110236"/>
                  </a:cubicBezTo>
                  <a:cubicBezTo>
                    <a:pt x="23368" y="107950"/>
                    <a:pt x="20320" y="105537"/>
                    <a:pt x="17526" y="102743"/>
                  </a:cubicBezTo>
                  <a:cubicBezTo>
                    <a:pt x="14732" y="99949"/>
                    <a:pt x="12319" y="96901"/>
                    <a:pt x="10160" y="93599"/>
                  </a:cubicBezTo>
                  <a:cubicBezTo>
                    <a:pt x="8001" y="90297"/>
                    <a:pt x="6096" y="86868"/>
                    <a:pt x="4572" y="83185"/>
                  </a:cubicBezTo>
                  <a:cubicBezTo>
                    <a:pt x="3048" y="79502"/>
                    <a:pt x="1905" y="75819"/>
                    <a:pt x="1143" y="71882"/>
                  </a:cubicBezTo>
                  <a:cubicBezTo>
                    <a:pt x="381" y="67945"/>
                    <a:pt x="0" y="64135"/>
                    <a:pt x="0" y="60198"/>
                  </a:cubicBezTo>
                  <a:cubicBezTo>
                    <a:pt x="0" y="56261"/>
                    <a:pt x="381" y="52324"/>
                    <a:pt x="1143" y="48514"/>
                  </a:cubicBezTo>
                  <a:cubicBezTo>
                    <a:pt x="1905" y="44704"/>
                    <a:pt x="3048" y="40894"/>
                    <a:pt x="4572" y="37211"/>
                  </a:cubicBezTo>
                  <a:cubicBezTo>
                    <a:pt x="6096" y="33528"/>
                    <a:pt x="7874" y="30099"/>
                    <a:pt x="10160" y="26797"/>
                  </a:cubicBezTo>
                  <a:cubicBezTo>
                    <a:pt x="12446" y="23495"/>
                    <a:pt x="14859" y="20447"/>
                    <a:pt x="17653" y="17653"/>
                  </a:cubicBezTo>
                  <a:cubicBezTo>
                    <a:pt x="20447" y="14859"/>
                    <a:pt x="23495" y="12319"/>
                    <a:pt x="26670" y="10160"/>
                  </a:cubicBezTo>
                  <a:cubicBezTo>
                    <a:pt x="29845" y="8001"/>
                    <a:pt x="33401" y="6096"/>
                    <a:pt x="37084" y="4572"/>
                  </a:cubicBezTo>
                  <a:cubicBezTo>
                    <a:pt x="40767" y="3048"/>
                    <a:pt x="44450" y="1905"/>
                    <a:pt x="48387" y="1143"/>
                  </a:cubicBezTo>
                  <a:cubicBezTo>
                    <a:pt x="52324" y="381"/>
                    <a:pt x="56261" y="0"/>
                    <a:pt x="60198" y="0"/>
                  </a:cubicBezTo>
                  <a:cubicBezTo>
                    <a:pt x="64135" y="0"/>
                    <a:pt x="68072" y="381"/>
                    <a:pt x="71882" y="1143"/>
                  </a:cubicBezTo>
                  <a:cubicBezTo>
                    <a:pt x="75692" y="1905"/>
                    <a:pt x="79502" y="3048"/>
                    <a:pt x="83185" y="4572"/>
                  </a:cubicBezTo>
                  <a:cubicBezTo>
                    <a:pt x="86868" y="6096"/>
                    <a:pt x="90297" y="7874"/>
                    <a:pt x="93599" y="10160"/>
                  </a:cubicBezTo>
                  <a:cubicBezTo>
                    <a:pt x="96901" y="12446"/>
                    <a:pt x="99949" y="14859"/>
                    <a:pt x="102743" y="17653"/>
                  </a:cubicBezTo>
                  <a:cubicBezTo>
                    <a:pt x="105537" y="20447"/>
                    <a:pt x="108077" y="23495"/>
                    <a:pt x="110236" y="26797"/>
                  </a:cubicBezTo>
                  <a:cubicBezTo>
                    <a:pt x="112395" y="30099"/>
                    <a:pt x="114300" y="33528"/>
                    <a:pt x="115824" y="37211"/>
                  </a:cubicBezTo>
                  <a:cubicBezTo>
                    <a:pt x="117348" y="40894"/>
                    <a:pt x="118491" y="44577"/>
                    <a:pt x="119253" y="48514"/>
                  </a:cubicBezTo>
                  <a:cubicBezTo>
                    <a:pt x="120015" y="52451"/>
                    <a:pt x="120396" y="56261"/>
                    <a:pt x="120396" y="60198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8904818" y="6453673"/>
            <a:ext cx="129550" cy="129550"/>
            <a:chOff x="0" y="0"/>
            <a:chExt cx="129553" cy="129553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129540" cy="129540"/>
            </a:xfrm>
            <a:custGeom>
              <a:avLst/>
              <a:gdLst/>
              <a:ahLst/>
              <a:cxnLst/>
              <a:rect l="l" t="t" r="r" b="b"/>
              <a:pathLst>
                <a:path w="129540" h="129540">
                  <a:moveTo>
                    <a:pt x="129540" y="64770"/>
                  </a:moveTo>
                  <a:cubicBezTo>
                    <a:pt x="129540" y="68961"/>
                    <a:pt x="129159" y="73279"/>
                    <a:pt x="128270" y="77470"/>
                  </a:cubicBezTo>
                  <a:lnTo>
                    <a:pt x="123698" y="76581"/>
                  </a:lnTo>
                  <a:lnTo>
                    <a:pt x="128270" y="77470"/>
                  </a:lnTo>
                  <a:cubicBezTo>
                    <a:pt x="127381" y="81661"/>
                    <a:pt x="126238" y="85725"/>
                    <a:pt x="124587" y="89662"/>
                  </a:cubicBezTo>
                  <a:lnTo>
                    <a:pt x="124587" y="89662"/>
                  </a:lnTo>
                  <a:lnTo>
                    <a:pt x="124587" y="89662"/>
                  </a:lnTo>
                  <a:cubicBezTo>
                    <a:pt x="122936" y="93599"/>
                    <a:pt x="120904" y="97282"/>
                    <a:pt x="118618" y="100838"/>
                  </a:cubicBezTo>
                  <a:lnTo>
                    <a:pt x="118618" y="100838"/>
                  </a:lnTo>
                  <a:lnTo>
                    <a:pt x="118618" y="100838"/>
                  </a:lnTo>
                  <a:cubicBezTo>
                    <a:pt x="116205" y="104394"/>
                    <a:pt x="113538" y="107696"/>
                    <a:pt x="110617" y="110617"/>
                  </a:cubicBezTo>
                  <a:lnTo>
                    <a:pt x="110617" y="110617"/>
                  </a:lnTo>
                  <a:lnTo>
                    <a:pt x="110617" y="110617"/>
                  </a:lnTo>
                  <a:cubicBezTo>
                    <a:pt x="107569" y="113665"/>
                    <a:pt x="104394" y="116332"/>
                    <a:pt x="100838" y="118618"/>
                  </a:cubicBezTo>
                  <a:lnTo>
                    <a:pt x="98298" y="114808"/>
                  </a:lnTo>
                  <a:lnTo>
                    <a:pt x="100838" y="118618"/>
                  </a:lnTo>
                  <a:cubicBezTo>
                    <a:pt x="97282" y="121031"/>
                    <a:pt x="93599" y="122936"/>
                    <a:pt x="89662" y="124587"/>
                  </a:cubicBezTo>
                  <a:lnTo>
                    <a:pt x="89662" y="124587"/>
                  </a:lnTo>
                  <a:lnTo>
                    <a:pt x="89662" y="124587"/>
                  </a:lnTo>
                  <a:cubicBezTo>
                    <a:pt x="85725" y="126238"/>
                    <a:pt x="81661" y="127381"/>
                    <a:pt x="77470" y="128270"/>
                  </a:cubicBezTo>
                  <a:lnTo>
                    <a:pt x="76581" y="123698"/>
                  </a:lnTo>
                  <a:lnTo>
                    <a:pt x="77470" y="128270"/>
                  </a:lnTo>
                  <a:cubicBezTo>
                    <a:pt x="73279" y="129159"/>
                    <a:pt x="69088" y="129540"/>
                    <a:pt x="64770" y="129540"/>
                  </a:cubicBezTo>
                  <a:lnTo>
                    <a:pt x="64770" y="124968"/>
                  </a:lnTo>
                  <a:lnTo>
                    <a:pt x="64770" y="129540"/>
                  </a:lnTo>
                  <a:cubicBezTo>
                    <a:pt x="60579" y="129540"/>
                    <a:pt x="56261" y="129159"/>
                    <a:pt x="52070" y="128270"/>
                  </a:cubicBezTo>
                  <a:lnTo>
                    <a:pt x="52959" y="123698"/>
                  </a:lnTo>
                  <a:lnTo>
                    <a:pt x="52070" y="128270"/>
                  </a:lnTo>
                  <a:cubicBezTo>
                    <a:pt x="47879" y="127381"/>
                    <a:pt x="43815" y="126238"/>
                    <a:pt x="39878" y="124587"/>
                  </a:cubicBezTo>
                  <a:lnTo>
                    <a:pt x="41656" y="120269"/>
                  </a:lnTo>
                  <a:lnTo>
                    <a:pt x="39878" y="124587"/>
                  </a:lnTo>
                  <a:cubicBezTo>
                    <a:pt x="35941" y="122936"/>
                    <a:pt x="32258" y="120904"/>
                    <a:pt x="28702" y="118618"/>
                  </a:cubicBezTo>
                  <a:lnTo>
                    <a:pt x="28702" y="118618"/>
                  </a:lnTo>
                  <a:lnTo>
                    <a:pt x="28702" y="118618"/>
                  </a:lnTo>
                  <a:cubicBezTo>
                    <a:pt x="25146" y="116205"/>
                    <a:pt x="21844" y="113538"/>
                    <a:pt x="18923" y="110617"/>
                  </a:cubicBezTo>
                  <a:lnTo>
                    <a:pt x="22225" y="107315"/>
                  </a:lnTo>
                  <a:lnTo>
                    <a:pt x="18923" y="110617"/>
                  </a:lnTo>
                  <a:cubicBezTo>
                    <a:pt x="15875" y="107569"/>
                    <a:pt x="13208" y="104394"/>
                    <a:pt x="10922" y="100838"/>
                  </a:cubicBezTo>
                  <a:lnTo>
                    <a:pt x="14732" y="98298"/>
                  </a:lnTo>
                  <a:lnTo>
                    <a:pt x="10922" y="100838"/>
                  </a:lnTo>
                  <a:cubicBezTo>
                    <a:pt x="8509" y="97282"/>
                    <a:pt x="6604" y="93472"/>
                    <a:pt x="4953" y="89535"/>
                  </a:cubicBezTo>
                  <a:lnTo>
                    <a:pt x="4953" y="89535"/>
                  </a:lnTo>
                  <a:lnTo>
                    <a:pt x="4953" y="89535"/>
                  </a:lnTo>
                  <a:cubicBezTo>
                    <a:pt x="3302" y="85598"/>
                    <a:pt x="2032" y="81534"/>
                    <a:pt x="1270" y="77470"/>
                  </a:cubicBezTo>
                  <a:lnTo>
                    <a:pt x="5842" y="76581"/>
                  </a:lnTo>
                  <a:lnTo>
                    <a:pt x="1270" y="77470"/>
                  </a:lnTo>
                  <a:cubicBezTo>
                    <a:pt x="381" y="73279"/>
                    <a:pt x="0" y="69088"/>
                    <a:pt x="0" y="64770"/>
                  </a:cubicBezTo>
                  <a:lnTo>
                    <a:pt x="4572" y="64770"/>
                  </a:lnTo>
                  <a:lnTo>
                    <a:pt x="0" y="64770"/>
                  </a:lnTo>
                  <a:cubicBezTo>
                    <a:pt x="0" y="60579"/>
                    <a:pt x="381" y="56261"/>
                    <a:pt x="1270" y="52070"/>
                  </a:cubicBezTo>
                  <a:lnTo>
                    <a:pt x="5842" y="52959"/>
                  </a:lnTo>
                  <a:lnTo>
                    <a:pt x="1270" y="52197"/>
                  </a:lnTo>
                  <a:cubicBezTo>
                    <a:pt x="2159" y="48006"/>
                    <a:pt x="3302" y="43942"/>
                    <a:pt x="4953" y="40005"/>
                  </a:cubicBezTo>
                  <a:lnTo>
                    <a:pt x="9271" y="41783"/>
                  </a:lnTo>
                  <a:lnTo>
                    <a:pt x="4953" y="40005"/>
                  </a:lnTo>
                  <a:cubicBezTo>
                    <a:pt x="6604" y="36068"/>
                    <a:pt x="8636" y="32385"/>
                    <a:pt x="10922" y="28829"/>
                  </a:cubicBezTo>
                  <a:lnTo>
                    <a:pt x="14732" y="31369"/>
                  </a:lnTo>
                  <a:lnTo>
                    <a:pt x="10922" y="28829"/>
                  </a:lnTo>
                  <a:cubicBezTo>
                    <a:pt x="13335" y="25273"/>
                    <a:pt x="16002" y="21971"/>
                    <a:pt x="18923" y="19050"/>
                  </a:cubicBezTo>
                  <a:lnTo>
                    <a:pt x="22225" y="22352"/>
                  </a:lnTo>
                  <a:lnTo>
                    <a:pt x="18923" y="19050"/>
                  </a:lnTo>
                  <a:cubicBezTo>
                    <a:pt x="21971" y="16002"/>
                    <a:pt x="25146" y="13335"/>
                    <a:pt x="28702" y="11049"/>
                  </a:cubicBezTo>
                  <a:lnTo>
                    <a:pt x="28702" y="11049"/>
                  </a:lnTo>
                  <a:lnTo>
                    <a:pt x="28702" y="11049"/>
                  </a:lnTo>
                  <a:cubicBezTo>
                    <a:pt x="32258" y="8636"/>
                    <a:pt x="35941" y="6731"/>
                    <a:pt x="39878" y="5080"/>
                  </a:cubicBezTo>
                  <a:lnTo>
                    <a:pt x="39878" y="5080"/>
                  </a:lnTo>
                  <a:lnTo>
                    <a:pt x="39878" y="5080"/>
                  </a:lnTo>
                  <a:cubicBezTo>
                    <a:pt x="43815" y="3429"/>
                    <a:pt x="47879" y="2286"/>
                    <a:pt x="52070" y="1397"/>
                  </a:cubicBezTo>
                  <a:lnTo>
                    <a:pt x="52070" y="1397"/>
                  </a:lnTo>
                  <a:lnTo>
                    <a:pt x="52070" y="1397"/>
                  </a:lnTo>
                  <a:cubicBezTo>
                    <a:pt x="56261" y="508"/>
                    <a:pt x="60452" y="127"/>
                    <a:pt x="64770" y="127"/>
                  </a:cubicBezTo>
                  <a:lnTo>
                    <a:pt x="64770" y="4572"/>
                  </a:lnTo>
                  <a:lnTo>
                    <a:pt x="64770" y="0"/>
                  </a:lnTo>
                  <a:cubicBezTo>
                    <a:pt x="68961" y="0"/>
                    <a:pt x="73279" y="381"/>
                    <a:pt x="77343" y="1270"/>
                  </a:cubicBezTo>
                  <a:lnTo>
                    <a:pt x="77343" y="1270"/>
                  </a:lnTo>
                  <a:lnTo>
                    <a:pt x="77343" y="1270"/>
                  </a:lnTo>
                  <a:cubicBezTo>
                    <a:pt x="81534" y="2159"/>
                    <a:pt x="85598" y="3302"/>
                    <a:pt x="89535" y="4953"/>
                  </a:cubicBezTo>
                  <a:lnTo>
                    <a:pt x="89535" y="4953"/>
                  </a:lnTo>
                  <a:lnTo>
                    <a:pt x="89535" y="4953"/>
                  </a:lnTo>
                  <a:cubicBezTo>
                    <a:pt x="93472" y="6604"/>
                    <a:pt x="97155" y="8636"/>
                    <a:pt x="100711" y="10922"/>
                  </a:cubicBezTo>
                  <a:lnTo>
                    <a:pt x="100711" y="10922"/>
                  </a:lnTo>
                  <a:lnTo>
                    <a:pt x="100711" y="10922"/>
                  </a:lnTo>
                  <a:cubicBezTo>
                    <a:pt x="104267" y="13335"/>
                    <a:pt x="107569" y="16002"/>
                    <a:pt x="110490" y="18923"/>
                  </a:cubicBezTo>
                  <a:lnTo>
                    <a:pt x="110490" y="18923"/>
                  </a:lnTo>
                  <a:lnTo>
                    <a:pt x="110490" y="18923"/>
                  </a:lnTo>
                  <a:cubicBezTo>
                    <a:pt x="113538" y="21971"/>
                    <a:pt x="116205" y="25146"/>
                    <a:pt x="118491" y="28702"/>
                  </a:cubicBezTo>
                  <a:lnTo>
                    <a:pt x="118491" y="28702"/>
                  </a:lnTo>
                  <a:lnTo>
                    <a:pt x="118491" y="28702"/>
                  </a:lnTo>
                  <a:cubicBezTo>
                    <a:pt x="120904" y="32258"/>
                    <a:pt x="122809" y="35941"/>
                    <a:pt x="124460" y="39878"/>
                  </a:cubicBezTo>
                  <a:lnTo>
                    <a:pt x="124460" y="39878"/>
                  </a:lnTo>
                  <a:lnTo>
                    <a:pt x="124460" y="39878"/>
                  </a:lnTo>
                  <a:cubicBezTo>
                    <a:pt x="126111" y="43815"/>
                    <a:pt x="127254" y="47879"/>
                    <a:pt x="128143" y="52070"/>
                  </a:cubicBezTo>
                  <a:lnTo>
                    <a:pt x="123571" y="52959"/>
                  </a:lnTo>
                  <a:lnTo>
                    <a:pt x="128143" y="52070"/>
                  </a:lnTo>
                  <a:cubicBezTo>
                    <a:pt x="129032" y="56261"/>
                    <a:pt x="129413" y="60452"/>
                    <a:pt x="129413" y="64770"/>
                  </a:cubicBezTo>
                  <a:lnTo>
                    <a:pt x="124968" y="64770"/>
                  </a:lnTo>
                  <a:lnTo>
                    <a:pt x="129540" y="64770"/>
                  </a:lnTo>
                  <a:moveTo>
                    <a:pt x="120269" y="64770"/>
                  </a:moveTo>
                  <a:cubicBezTo>
                    <a:pt x="120269" y="61087"/>
                    <a:pt x="119888" y="57531"/>
                    <a:pt x="119253" y="53975"/>
                  </a:cubicBezTo>
                  <a:lnTo>
                    <a:pt x="119253" y="53975"/>
                  </a:lnTo>
                  <a:lnTo>
                    <a:pt x="119253" y="53975"/>
                  </a:lnTo>
                  <a:cubicBezTo>
                    <a:pt x="118491" y="50419"/>
                    <a:pt x="117475" y="46990"/>
                    <a:pt x="116078" y="43561"/>
                  </a:cubicBezTo>
                  <a:lnTo>
                    <a:pt x="120396" y="41783"/>
                  </a:lnTo>
                  <a:lnTo>
                    <a:pt x="116078" y="43561"/>
                  </a:lnTo>
                  <a:cubicBezTo>
                    <a:pt x="114681" y="40132"/>
                    <a:pt x="113030" y="36957"/>
                    <a:pt x="110998" y="33909"/>
                  </a:cubicBezTo>
                  <a:lnTo>
                    <a:pt x="114808" y="31369"/>
                  </a:lnTo>
                  <a:lnTo>
                    <a:pt x="110998" y="33909"/>
                  </a:lnTo>
                  <a:cubicBezTo>
                    <a:pt x="108966" y="30861"/>
                    <a:pt x="106680" y="28067"/>
                    <a:pt x="104140" y="25527"/>
                  </a:cubicBezTo>
                  <a:lnTo>
                    <a:pt x="107442" y="22225"/>
                  </a:lnTo>
                  <a:lnTo>
                    <a:pt x="104140" y="25527"/>
                  </a:lnTo>
                  <a:cubicBezTo>
                    <a:pt x="101600" y="22987"/>
                    <a:pt x="98806" y="20701"/>
                    <a:pt x="95758" y="18669"/>
                  </a:cubicBezTo>
                  <a:lnTo>
                    <a:pt x="98298" y="14859"/>
                  </a:lnTo>
                  <a:lnTo>
                    <a:pt x="95758" y="18669"/>
                  </a:lnTo>
                  <a:cubicBezTo>
                    <a:pt x="92710" y="16637"/>
                    <a:pt x="89535" y="14986"/>
                    <a:pt x="86106" y="13589"/>
                  </a:cubicBezTo>
                  <a:lnTo>
                    <a:pt x="87757" y="9144"/>
                  </a:lnTo>
                  <a:lnTo>
                    <a:pt x="85979" y="13462"/>
                  </a:lnTo>
                  <a:cubicBezTo>
                    <a:pt x="82677" y="12065"/>
                    <a:pt x="79121" y="11049"/>
                    <a:pt x="75565" y="10287"/>
                  </a:cubicBezTo>
                  <a:lnTo>
                    <a:pt x="76454" y="5842"/>
                  </a:lnTo>
                  <a:lnTo>
                    <a:pt x="75565" y="10287"/>
                  </a:lnTo>
                  <a:cubicBezTo>
                    <a:pt x="72009" y="9652"/>
                    <a:pt x="68453" y="9271"/>
                    <a:pt x="64770" y="9271"/>
                  </a:cubicBezTo>
                  <a:cubicBezTo>
                    <a:pt x="61087" y="9271"/>
                    <a:pt x="57531" y="9652"/>
                    <a:pt x="53975" y="10287"/>
                  </a:cubicBezTo>
                  <a:lnTo>
                    <a:pt x="53086" y="5842"/>
                  </a:lnTo>
                  <a:lnTo>
                    <a:pt x="53975" y="10414"/>
                  </a:lnTo>
                  <a:cubicBezTo>
                    <a:pt x="50419" y="11176"/>
                    <a:pt x="46990" y="12192"/>
                    <a:pt x="43561" y="13589"/>
                  </a:cubicBezTo>
                  <a:lnTo>
                    <a:pt x="41783" y="9144"/>
                  </a:lnTo>
                  <a:lnTo>
                    <a:pt x="43561" y="13462"/>
                  </a:lnTo>
                  <a:cubicBezTo>
                    <a:pt x="40132" y="14859"/>
                    <a:pt x="36957" y="16510"/>
                    <a:pt x="33909" y="18542"/>
                  </a:cubicBezTo>
                  <a:lnTo>
                    <a:pt x="31369" y="14732"/>
                  </a:lnTo>
                  <a:lnTo>
                    <a:pt x="33909" y="18542"/>
                  </a:lnTo>
                  <a:cubicBezTo>
                    <a:pt x="30861" y="20574"/>
                    <a:pt x="28067" y="22860"/>
                    <a:pt x="25527" y="25400"/>
                  </a:cubicBezTo>
                  <a:lnTo>
                    <a:pt x="25527" y="25400"/>
                  </a:lnTo>
                  <a:lnTo>
                    <a:pt x="25527" y="25400"/>
                  </a:lnTo>
                  <a:cubicBezTo>
                    <a:pt x="22987" y="27940"/>
                    <a:pt x="20701" y="30734"/>
                    <a:pt x="18669" y="33782"/>
                  </a:cubicBezTo>
                  <a:lnTo>
                    <a:pt x="18669" y="33782"/>
                  </a:lnTo>
                  <a:lnTo>
                    <a:pt x="18669" y="33782"/>
                  </a:lnTo>
                  <a:cubicBezTo>
                    <a:pt x="16637" y="36830"/>
                    <a:pt x="14986" y="40005"/>
                    <a:pt x="13589" y="43434"/>
                  </a:cubicBezTo>
                  <a:lnTo>
                    <a:pt x="13589" y="43434"/>
                  </a:lnTo>
                  <a:lnTo>
                    <a:pt x="13589" y="43434"/>
                  </a:lnTo>
                  <a:cubicBezTo>
                    <a:pt x="12192" y="46863"/>
                    <a:pt x="11176" y="50292"/>
                    <a:pt x="10414" y="53848"/>
                  </a:cubicBezTo>
                  <a:lnTo>
                    <a:pt x="10414" y="53848"/>
                  </a:lnTo>
                  <a:lnTo>
                    <a:pt x="10414" y="53848"/>
                  </a:lnTo>
                  <a:cubicBezTo>
                    <a:pt x="9652" y="57404"/>
                    <a:pt x="9398" y="61087"/>
                    <a:pt x="9398" y="64643"/>
                  </a:cubicBezTo>
                  <a:cubicBezTo>
                    <a:pt x="9398" y="68199"/>
                    <a:pt x="9779" y="71882"/>
                    <a:pt x="10414" y="75438"/>
                  </a:cubicBezTo>
                  <a:cubicBezTo>
                    <a:pt x="11049" y="78994"/>
                    <a:pt x="12192" y="82423"/>
                    <a:pt x="13589" y="85852"/>
                  </a:cubicBezTo>
                  <a:lnTo>
                    <a:pt x="9271" y="87630"/>
                  </a:lnTo>
                  <a:lnTo>
                    <a:pt x="13589" y="85852"/>
                  </a:lnTo>
                  <a:cubicBezTo>
                    <a:pt x="14986" y="89281"/>
                    <a:pt x="16637" y="92456"/>
                    <a:pt x="18669" y="95504"/>
                  </a:cubicBezTo>
                  <a:lnTo>
                    <a:pt x="18669" y="95504"/>
                  </a:lnTo>
                  <a:lnTo>
                    <a:pt x="18669" y="95504"/>
                  </a:lnTo>
                  <a:cubicBezTo>
                    <a:pt x="20701" y="98552"/>
                    <a:pt x="22987" y="101346"/>
                    <a:pt x="25527" y="103886"/>
                  </a:cubicBezTo>
                  <a:lnTo>
                    <a:pt x="25527" y="103886"/>
                  </a:lnTo>
                  <a:lnTo>
                    <a:pt x="25527" y="103886"/>
                  </a:lnTo>
                  <a:cubicBezTo>
                    <a:pt x="28067" y="106426"/>
                    <a:pt x="30861" y="108712"/>
                    <a:pt x="33909" y="110744"/>
                  </a:cubicBezTo>
                  <a:lnTo>
                    <a:pt x="31369" y="114554"/>
                  </a:lnTo>
                  <a:lnTo>
                    <a:pt x="33909" y="110744"/>
                  </a:lnTo>
                  <a:cubicBezTo>
                    <a:pt x="36957" y="112776"/>
                    <a:pt x="40132" y="114427"/>
                    <a:pt x="43561" y="115824"/>
                  </a:cubicBezTo>
                  <a:lnTo>
                    <a:pt x="43561" y="115824"/>
                  </a:lnTo>
                  <a:lnTo>
                    <a:pt x="43561" y="115824"/>
                  </a:lnTo>
                  <a:cubicBezTo>
                    <a:pt x="46990" y="117221"/>
                    <a:pt x="50419" y="118237"/>
                    <a:pt x="53975" y="118999"/>
                  </a:cubicBezTo>
                  <a:lnTo>
                    <a:pt x="53975" y="118999"/>
                  </a:lnTo>
                  <a:lnTo>
                    <a:pt x="53975" y="118999"/>
                  </a:lnTo>
                  <a:cubicBezTo>
                    <a:pt x="57531" y="119761"/>
                    <a:pt x="61214" y="120015"/>
                    <a:pt x="64770" y="120015"/>
                  </a:cubicBezTo>
                  <a:cubicBezTo>
                    <a:pt x="68326" y="120015"/>
                    <a:pt x="72009" y="119634"/>
                    <a:pt x="75565" y="118999"/>
                  </a:cubicBezTo>
                  <a:lnTo>
                    <a:pt x="75565" y="118999"/>
                  </a:lnTo>
                  <a:lnTo>
                    <a:pt x="75565" y="118999"/>
                  </a:lnTo>
                  <a:cubicBezTo>
                    <a:pt x="79121" y="118237"/>
                    <a:pt x="82550" y="117221"/>
                    <a:pt x="85979" y="115824"/>
                  </a:cubicBezTo>
                  <a:lnTo>
                    <a:pt x="87757" y="120142"/>
                  </a:lnTo>
                  <a:lnTo>
                    <a:pt x="85979" y="115824"/>
                  </a:lnTo>
                  <a:cubicBezTo>
                    <a:pt x="89408" y="114427"/>
                    <a:pt x="92583" y="112776"/>
                    <a:pt x="95631" y="110744"/>
                  </a:cubicBezTo>
                  <a:cubicBezTo>
                    <a:pt x="98679" y="108712"/>
                    <a:pt x="101473" y="106426"/>
                    <a:pt x="104013" y="103886"/>
                  </a:cubicBezTo>
                  <a:lnTo>
                    <a:pt x="107315" y="107188"/>
                  </a:lnTo>
                  <a:lnTo>
                    <a:pt x="104013" y="103886"/>
                  </a:lnTo>
                  <a:cubicBezTo>
                    <a:pt x="106553" y="101346"/>
                    <a:pt x="108839" y="98552"/>
                    <a:pt x="110871" y="95504"/>
                  </a:cubicBezTo>
                  <a:lnTo>
                    <a:pt x="114681" y="98044"/>
                  </a:lnTo>
                  <a:lnTo>
                    <a:pt x="110871" y="95504"/>
                  </a:lnTo>
                  <a:cubicBezTo>
                    <a:pt x="112903" y="92456"/>
                    <a:pt x="114554" y="89281"/>
                    <a:pt x="115951" y="85852"/>
                  </a:cubicBezTo>
                  <a:lnTo>
                    <a:pt x="120269" y="87630"/>
                  </a:lnTo>
                  <a:lnTo>
                    <a:pt x="115951" y="85852"/>
                  </a:lnTo>
                  <a:cubicBezTo>
                    <a:pt x="117348" y="82423"/>
                    <a:pt x="118364" y="78994"/>
                    <a:pt x="119126" y="75438"/>
                  </a:cubicBezTo>
                  <a:cubicBezTo>
                    <a:pt x="119888" y="71882"/>
                    <a:pt x="120142" y="68199"/>
                    <a:pt x="120142" y="646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8904818" y="7175459"/>
            <a:ext cx="129550" cy="129550"/>
            <a:chOff x="0" y="0"/>
            <a:chExt cx="129553" cy="129553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129540" cy="129540"/>
            </a:xfrm>
            <a:custGeom>
              <a:avLst/>
              <a:gdLst/>
              <a:ahLst/>
              <a:cxnLst/>
              <a:rect l="l" t="t" r="r" b="b"/>
              <a:pathLst>
                <a:path w="129540" h="129540">
                  <a:moveTo>
                    <a:pt x="129540" y="64770"/>
                  </a:moveTo>
                  <a:cubicBezTo>
                    <a:pt x="129540" y="68961"/>
                    <a:pt x="129159" y="73279"/>
                    <a:pt x="128270" y="77470"/>
                  </a:cubicBezTo>
                  <a:lnTo>
                    <a:pt x="123698" y="76581"/>
                  </a:lnTo>
                  <a:lnTo>
                    <a:pt x="128270" y="77470"/>
                  </a:lnTo>
                  <a:cubicBezTo>
                    <a:pt x="127381" y="81661"/>
                    <a:pt x="126238" y="85725"/>
                    <a:pt x="124587" y="89662"/>
                  </a:cubicBezTo>
                  <a:lnTo>
                    <a:pt x="124587" y="89662"/>
                  </a:lnTo>
                  <a:lnTo>
                    <a:pt x="124587" y="89662"/>
                  </a:lnTo>
                  <a:cubicBezTo>
                    <a:pt x="122936" y="93599"/>
                    <a:pt x="120904" y="97282"/>
                    <a:pt x="118618" y="100838"/>
                  </a:cubicBezTo>
                  <a:lnTo>
                    <a:pt x="118618" y="100838"/>
                  </a:lnTo>
                  <a:lnTo>
                    <a:pt x="118618" y="100838"/>
                  </a:lnTo>
                  <a:cubicBezTo>
                    <a:pt x="116205" y="104394"/>
                    <a:pt x="113538" y="107696"/>
                    <a:pt x="110617" y="110617"/>
                  </a:cubicBezTo>
                  <a:lnTo>
                    <a:pt x="110617" y="110617"/>
                  </a:lnTo>
                  <a:lnTo>
                    <a:pt x="110617" y="110617"/>
                  </a:lnTo>
                  <a:cubicBezTo>
                    <a:pt x="107569" y="113665"/>
                    <a:pt x="104394" y="116332"/>
                    <a:pt x="100838" y="118618"/>
                  </a:cubicBezTo>
                  <a:lnTo>
                    <a:pt x="98298" y="114808"/>
                  </a:lnTo>
                  <a:lnTo>
                    <a:pt x="100838" y="118618"/>
                  </a:lnTo>
                  <a:cubicBezTo>
                    <a:pt x="97282" y="121031"/>
                    <a:pt x="93599" y="122936"/>
                    <a:pt x="89662" y="124587"/>
                  </a:cubicBezTo>
                  <a:lnTo>
                    <a:pt x="89662" y="124587"/>
                  </a:lnTo>
                  <a:lnTo>
                    <a:pt x="89662" y="124587"/>
                  </a:lnTo>
                  <a:cubicBezTo>
                    <a:pt x="85725" y="126238"/>
                    <a:pt x="81661" y="127381"/>
                    <a:pt x="77470" y="128270"/>
                  </a:cubicBezTo>
                  <a:lnTo>
                    <a:pt x="76581" y="123698"/>
                  </a:lnTo>
                  <a:lnTo>
                    <a:pt x="77470" y="128270"/>
                  </a:lnTo>
                  <a:cubicBezTo>
                    <a:pt x="73279" y="129159"/>
                    <a:pt x="69088" y="129540"/>
                    <a:pt x="64770" y="129540"/>
                  </a:cubicBezTo>
                  <a:lnTo>
                    <a:pt x="64770" y="124968"/>
                  </a:lnTo>
                  <a:lnTo>
                    <a:pt x="64770" y="129540"/>
                  </a:lnTo>
                  <a:cubicBezTo>
                    <a:pt x="60579" y="129540"/>
                    <a:pt x="56261" y="129159"/>
                    <a:pt x="52070" y="128270"/>
                  </a:cubicBezTo>
                  <a:lnTo>
                    <a:pt x="52070" y="128270"/>
                  </a:lnTo>
                  <a:lnTo>
                    <a:pt x="52070" y="128270"/>
                  </a:lnTo>
                  <a:cubicBezTo>
                    <a:pt x="47879" y="127381"/>
                    <a:pt x="43815" y="126238"/>
                    <a:pt x="39878" y="124587"/>
                  </a:cubicBezTo>
                  <a:lnTo>
                    <a:pt x="41656" y="120269"/>
                  </a:lnTo>
                  <a:lnTo>
                    <a:pt x="39878" y="124587"/>
                  </a:lnTo>
                  <a:cubicBezTo>
                    <a:pt x="35941" y="122936"/>
                    <a:pt x="32258" y="120904"/>
                    <a:pt x="28702" y="118618"/>
                  </a:cubicBezTo>
                  <a:lnTo>
                    <a:pt x="28702" y="118618"/>
                  </a:lnTo>
                  <a:lnTo>
                    <a:pt x="28702" y="118618"/>
                  </a:lnTo>
                  <a:cubicBezTo>
                    <a:pt x="25146" y="116205"/>
                    <a:pt x="21844" y="113538"/>
                    <a:pt x="18923" y="110617"/>
                  </a:cubicBezTo>
                  <a:lnTo>
                    <a:pt x="22225" y="107315"/>
                  </a:lnTo>
                  <a:lnTo>
                    <a:pt x="18923" y="110617"/>
                  </a:lnTo>
                  <a:cubicBezTo>
                    <a:pt x="15875" y="107569"/>
                    <a:pt x="13208" y="104394"/>
                    <a:pt x="10922" y="100838"/>
                  </a:cubicBezTo>
                  <a:lnTo>
                    <a:pt x="14732" y="98298"/>
                  </a:lnTo>
                  <a:lnTo>
                    <a:pt x="10922" y="100838"/>
                  </a:lnTo>
                  <a:cubicBezTo>
                    <a:pt x="8509" y="97282"/>
                    <a:pt x="6604" y="93472"/>
                    <a:pt x="4953" y="89535"/>
                  </a:cubicBezTo>
                  <a:lnTo>
                    <a:pt x="9271" y="87757"/>
                  </a:lnTo>
                  <a:lnTo>
                    <a:pt x="4953" y="89535"/>
                  </a:lnTo>
                  <a:cubicBezTo>
                    <a:pt x="3302" y="85598"/>
                    <a:pt x="2032" y="81534"/>
                    <a:pt x="1270" y="77470"/>
                  </a:cubicBezTo>
                  <a:lnTo>
                    <a:pt x="5842" y="76581"/>
                  </a:lnTo>
                  <a:lnTo>
                    <a:pt x="1270" y="77470"/>
                  </a:lnTo>
                  <a:cubicBezTo>
                    <a:pt x="381" y="73279"/>
                    <a:pt x="0" y="69088"/>
                    <a:pt x="0" y="64770"/>
                  </a:cubicBezTo>
                  <a:lnTo>
                    <a:pt x="4572" y="64770"/>
                  </a:lnTo>
                  <a:lnTo>
                    <a:pt x="0" y="64770"/>
                  </a:lnTo>
                  <a:cubicBezTo>
                    <a:pt x="0" y="60579"/>
                    <a:pt x="381" y="56261"/>
                    <a:pt x="1270" y="52070"/>
                  </a:cubicBezTo>
                  <a:lnTo>
                    <a:pt x="5842" y="52959"/>
                  </a:lnTo>
                  <a:lnTo>
                    <a:pt x="1270" y="52197"/>
                  </a:lnTo>
                  <a:cubicBezTo>
                    <a:pt x="2159" y="48006"/>
                    <a:pt x="3302" y="43942"/>
                    <a:pt x="4953" y="40005"/>
                  </a:cubicBezTo>
                  <a:lnTo>
                    <a:pt x="9271" y="41783"/>
                  </a:lnTo>
                  <a:lnTo>
                    <a:pt x="4953" y="40005"/>
                  </a:lnTo>
                  <a:cubicBezTo>
                    <a:pt x="6604" y="36068"/>
                    <a:pt x="8636" y="32385"/>
                    <a:pt x="10922" y="28829"/>
                  </a:cubicBezTo>
                  <a:lnTo>
                    <a:pt x="14732" y="31369"/>
                  </a:lnTo>
                  <a:lnTo>
                    <a:pt x="10922" y="28829"/>
                  </a:lnTo>
                  <a:cubicBezTo>
                    <a:pt x="13335" y="25273"/>
                    <a:pt x="16002" y="21971"/>
                    <a:pt x="18923" y="19050"/>
                  </a:cubicBezTo>
                  <a:lnTo>
                    <a:pt x="22225" y="22352"/>
                  </a:lnTo>
                  <a:lnTo>
                    <a:pt x="18923" y="19050"/>
                  </a:lnTo>
                  <a:cubicBezTo>
                    <a:pt x="21971" y="16002"/>
                    <a:pt x="25146" y="13335"/>
                    <a:pt x="28702" y="11049"/>
                  </a:cubicBezTo>
                  <a:lnTo>
                    <a:pt x="28702" y="11049"/>
                  </a:lnTo>
                  <a:lnTo>
                    <a:pt x="28702" y="11049"/>
                  </a:lnTo>
                  <a:cubicBezTo>
                    <a:pt x="32258" y="8636"/>
                    <a:pt x="35941" y="6731"/>
                    <a:pt x="39878" y="5080"/>
                  </a:cubicBezTo>
                  <a:lnTo>
                    <a:pt x="39878" y="5080"/>
                  </a:lnTo>
                  <a:lnTo>
                    <a:pt x="39878" y="5080"/>
                  </a:lnTo>
                  <a:cubicBezTo>
                    <a:pt x="43815" y="3429"/>
                    <a:pt x="47879" y="2286"/>
                    <a:pt x="52070" y="1397"/>
                  </a:cubicBezTo>
                  <a:lnTo>
                    <a:pt x="52070" y="1397"/>
                  </a:lnTo>
                  <a:lnTo>
                    <a:pt x="52070" y="1397"/>
                  </a:lnTo>
                  <a:cubicBezTo>
                    <a:pt x="56261" y="508"/>
                    <a:pt x="60452" y="127"/>
                    <a:pt x="64770" y="127"/>
                  </a:cubicBezTo>
                  <a:lnTo>
                    <a:pt x="64770" y="4572"/>
                  </a:lnTo>
                  <a:lnTo>
                    <a:pt x="64770" y="0"/>
                  </a:lnTo>
                  <a:cubicBezTo>
                    <a:pt x="68961" y="0"/>
                    <a:pt x="73279" y="381"/>
                    <a:pt x="77470" y="1270"/>
                  </a:cubicBezTo>
                  <a:lnTo>
                    <a:pt x="77470" y="1270"/>
                  </a:lnTo>
                  <a:lnTo>
                    <a:pt x="77470" y="1270"/>
                  </a:lnTo>
                  <a:cubicBezTo>
                    <a:pt x="81661" y="2159"/>
                    <a:pt x="85725" y="3302"/>
                    <a:pt x="89662" y="4953"/>
                  </a:cubicBezTo>
                  <a:lnTo>
                    <a:pt x="89662" y="4953"/>
                  </a:lnTo>
                  <a:lnTo>
                    <a:pt x="89662" y="4953"/>
                  </a:lnTo>
                  <a:cubicBezTo>
                    <a:pt x="93599" y="6604"/>
                    <a:pt x="97282" y="8636"/>
                    <a:pt x="100838" y="10922"/>
                  </a:cubicBezTo>
                  <a:lnTo>
                    <a:pt x="98298" y="14732"/>
                  </a:lnTo>
                  <a:lnTo>
                    <a:pt x="100838" y="10922"/>
                  </a:lnTo>
                  <a:cubicBezTo>
                    <a:pt x="104394" y="13335"/>
                    <a:pt x="107696" y="16002"/>
                    <a:pt x="110617" y="18923"/>
                  </a:cubicBezTo>
                  <a:lnTo>
                    <a:pt x="110617" y="18923"/>
                  </a:lnTo>
                  <a:lnTo>
                    <a:pt x="110617" y="18923"/>
                  </a:lnTo>
                  <a:cubicBezTo>
                    <a:pt x="113665" y="21971"/>
                    <a:pt x="116332" y="25146"/>
                    <a:pt x="118618" y="28702"/>
                  </a:cubicBezTo>
                  <a:lnTo>
                    <a:pt x="114808" y="31242"/>
                  </a:lnTo>
                  <a:lnTo>
                    <a:pt x="118618" y="28702"/>
                  </a:lnTo>
                  <a:cubicBezTo>
                    <a:pt x="121031" y="32258"/>
                    <a:pt x="122936" y="35941"/>
                    <a:pt x="124587" y="39878"/>
                  </a:cubicBezTo>
                  <a:lnTo>
                    <a:pt x="124587" y="39878"/>
                  </a:lnTo>
                  <a:lnTo>
                    <a:pt x="124587" y="39878"/>
                  </a:lnTo>
                  <a:cubicBezTo>
                    <a:pt x="126238" y="43815"/>
                    <a:pt x="127381" y="47879"/>
                    <a:pt x="128270" y="52070"/>
                  </a:cubicBezTo>
                  <a:lnTo>
                    <a:pt x="123698" y="52959"/>
                  </a:lnTo>
                  <a:lnTo>
                    <a:pt x="128270" y="52070"/>
                  </a:lnTo>
                  <a:cubicBezTo>
                    <a:pt x="129159" y="56261"/>
                    <a:pt x="129540" y="60452"/>
                    <a:pt x="129540" y="64770"/>
                  </a:cubicBezTo>
                  <a:lnTo>
                    <a:pt x="124968" y="64770"/>
                  </a:lnTo>
                  <a:lnTo>
                    <a:pt x="129540" y="64770"/>
                  </a:lnTo>
                  <a:moveTo>
                    <a:pt x="120269" y="64770"/>
                  </a:moveTo>
                  <a:cubicBezTo>
                    <a:pt x="120269" y="61087"/>
                    <a:pt x="119888" y="57531"/>
                    <a:pt x="119253" y="53975"/>
                  </a:cubicBezTo>
                  <a:lnTo>
                    <a:pt x="119253" y="53975"/>
                  </a:lnTo>
                  <a:lnTo>
                    <a:pt x="119253" y="53975"/>
                  </a:lnTo>
                  <a:cubicBezTo>
                    <a:pt x="118491" y="50419"/>
                    <a:pt x="117475" y="46990"/>
                    <a:pt x="116078" y="43561"/>
                  </a:cubicBezTo>
                  <a:lnTo>
                    <a:pt x="120396" y="41783"/>
                  </a:lnTo>
                  <a:lnTo>
                    <a:pt x="116078" y="43561"/>
                  </a:lnTo>
                  <a:cubicBezTo>
                    <a:pt x="114681" y="40132"/>
                    <a:pt x="113030" y="36957"/>
                    <a:pt x="110998" y="33909"/>
                  </a:cubicBezTo>
                  <a:cubicBezTo>
                    <a:pt x="108966" y="30861"/>
                    <a:pt x="106680" y="28067"/>
                    <a:pt x="104140" y="25527"/>
                  </a:cubicBezTo>
                  <a:lnTo>
                    <a:pt x="107442" y="22225"/>
                  </a:lnTo>
                  <a:lnTo>
                    <a:pt x="104140" y="25527"/>
                  </a:lnTo>
                  <a:cubicBezTo>
                    <a:pt x="101600" y="22987"/>
                    <a:pt x="98806" y="20701"/>
                    <a:pt x="95758" y="18669"/>
                  </a:cubicBezTo>
                  <a:cubicBezTo>
                    <a:pt x="92710" y="16637"/>
                    <a:pt x="89535" y="14986"/>
                    <a:pt x="86106" y="13589"/>
                  </a:cubicBezTo>
                  <a:lnTo>
                    <a:pt x="87757" y="9144"/>
                  </a:lnTo>
                  <a:lnTo>
                    <a:pt x="85979" y="13462"/>
                  </a:lnTo>
                  <a:cubicBezTo>
                    <a:pt x="82677" y="12065"/>
                    <a:pt x="79121" y="11049"/>
                    <a:pt x="75565" y="10287"/>
                  </a:cubicBezTo>
                  <a:lnTo>
                    <a:pt x="76454" y="5842"/>
                  </a:lnTo>
                  <a:lnTo>
                    <a:pt x="75565" y="10287"/>
                  </a:lnTo>
                  <a:cubicBezTo>
                    <a:pt x="72009" y="9652"/>
                    <a:pt x="68453" y="9271"/>
                    <a:pt x="64770" y="9271"/>
                  </a:cubicBezTo>
                  <a:cubicBezTo>
                    <a:pt x="61087" y="9271"/>
                    <a:pt x="57531" y="9652"/>
                    <a:pt x="53975" y="10287"/>
                  </a:cubicBezTo>
                  <a:lnTo>
                    <a:pt x="53086" y="5842"/>
                  </a:lnTo>
                  <a:lnTo>
                    <a:pt x="53975" y="10414"/>
                  </a:lnTo>
                  <a:cubicBezTo>
                    <a:pt x="50419" y="11176"/>
                    <a:pt x="46990" y="12192"/>
                    <a:pt x="43561" y="13589"/>
                  </a:cubicBezTo>
                  <a:lnTo>
                    <a:pt x="41783" y="9144"/>
                  </a:lnTo>
                  <a:lnTo>
                    <a:pt x="43561" y="13462"/>
                  </a:lnTo>
                  <a:cubicBezTo>
                    <a:pt x="40132" y="14859"/>
                    <a:pt x="36957" y="16510"/>
                    <a:pt x="33909" y="18542"/>
                  </a:cubicBezTo>
                  <a:lnTo>
                    <a:pt x="31369" y="14732"/>
                  </a:lnTo>
                  <a:lnTo>
                    <a:pt x="33909" y="18542"/>
                  </a:lnTo>
                  <a:cubicBezTo>
                    <a:pt x="30861" y="20574"/>
                    <a:pt x="28067" y="22860"/>
                    <a:pt x="25527" y="25400"/>
                  </a:cubicBezTo>
                  <a:lnTo>
                    <a:pt x="25527" y="25400"/>
                  </a:lnTo>
                  <a:lnTo>
                    <a:pt x="25527" y="25400"/>
                  </a:lnTo>
                  <a:cubicBezTo>
                    <a:pt x="22987" y="27940"/>
                    <a:pt x="20701" y="30734"/>
                    <a:pt x="18669" y="33782"/>
                  </a:cubicBezTo>
                  <a:lnTo>
                    <a:pt x="18669" y="33782"/>
                  </a:lnTo>
                  <a:lnTo>
                    <a:pt x="18669" y="33782"/>
                  </a:lnTo>
                  <a:cubicBezTo>
                    <a:pt x="16637" y="36830"/>
                    <a:pt x="14986" y="40005"/>
                    <a:pt x="13589" y="43434"/>
                  </a:cubicBezTo>
                  <a:cubicBezTo>
                    <a:pt x="12192" y="46863"/>
                    <a:pt x="11176" y="50292"/>
                    <a:pt x="10414" y="53848"/>
                  </a:cubicBezTo>
                  <a:lnTo>
                    <a:pt x="10414" y="53848"/>
                  </a:lnTo>
                  <a:lnTo>
                    <a:pt x="10414" y="53848"/>
                  </a:lnTo>
                  <a:cubicBezTo>
                    <a:pt x="9652" y="57404"/>
                    <a:pt x="9398" y="61087"/>
                    <a:pt x="9398" y="64643"/>
                  </a:cubicBezTo>
                  <a:cubicBezTo>
                    <a:pt x="9398" y="68199"/>
                    <a:pt x="9779" y="71882"/>
                    <a:pt x="10414" y="75438"/>
                  </a:cubicBezTo>
                  <a:cubicBezTo>
                    <a:pt x="11049" y="78994"/>
                    <a:pt x="12192" y="82423"/>
                    <a:pt x="13589" y="85852"/>
                  </a:cubicBezTo>
                  <a:cubicBezTo>
                    <a:pt x="14986" y="89281"/>
                    <a:pt x="16637" y="92456"/>
                    <a:pt x="18669" y="95504"/>
                  </a:cubicBezTo>
                  <a:lnTo>
                    <a:pt x="18669" y="95504"/>
                  </a:lnTo>
                  <a:lnTo>
                    <a:pt x="18669" y="95504"/>
                  </a:lnTo>
                  <a:cubicBezTo>
                    <a:pt x="20701" y="98552"/>
                    <a:pt x="22987" y="101346"/>
                    <a:pt x="25527" y="103886"/>
                  </a:cubicBezTo>
                  <a:lnTo>
                    <a:pt x="25527" y="103886"/>
                  </a:lnTo>
                  <a:lnTo>
                    <a:pt x="25527" y="103886"/>
                  </a:lnTo>
                  <a:cubicBezTo>
                    <a:pt x="28067" y="106426"/>
                    <a:pt x="30861" y="108712"/>
                    <a:pt x="33909" y="110744"/>
                  </a:cubicBezTo>
                  <a:lnTo>
                    <a:pt x="31369" y="114554"/>
                  </a:lnTo>
                  <a:lnTo>
                    <a:pt x="33909" y="110744"/>
                  </a:lnTo>
                  <a:cubicBezTo>
                    <a:pt x="36957" y="112776"/>
                    <a:pt x="40132" y="114427"/>
                    <a:pt x="43561" y="115824"/>
                  </a:cubicBezTo>
                  <a:lnTo>
                    <a:pt x="43561" y="115824"/>
                  </a:lnTo>
                  <a:lnTo>
                    <a:pt x="43561" y="115824"/>
                  </a:lnTo>
                  <a:cubicBezTo>
                    <a:pt x="46990" y="117221"/>
                    <a:pt x="50419" y="118237"/>
                    <a:pt x="53975" y="118999"/>
                  </a:cubicBezTo>
                  <a:lnTo>
                    <a:pt x="53086" y="123571"/>
                  </a:lnTo>
                  <a:lnTo>
                    <a:pt x="53975" y="118999"/>
                  </a:lnTo>
                  <a:cubicBezTo>
                    <a:pt x="57531" y="119761"/>
                    <a:pt x="61214" y="120015"/>
                    <a:pt x="64770" y="120015"/>
                  </a:cubicBezTo>
                  <a:cubicBezTo>
                    <a:pt x="68326" y="120015"/>
                    <a:pt x="72009" y="119634"/>
                    <a:pt x="75565" y="118999"/>
                  </a:cubicBezTo>
                  <a:cubicBezTo>
                    <a:pt x="79121" y="118364"/>
                    <a:pt x="82550" y="117221"/>
                    <a:pt x="85979" y="115824"/>
                  </a:cubicBezTo>
                  <a:lnTo>
                    <a:pt x="87757" y="120142"/>
                  </a:lnTo>
                  <a:lnTo>
                    <a:pt x="85979" y="115824"/>
                  </a:lnTo>
                  <a:cubicBezTo>
                    <a:pt x="89408" y="114427"/>
                    <a:pt x="92583" y="112776"/>
                    <a:pt x="95631" y="110744"/>
                  </a:cubicBezTo>
                  <a:cubicBezTo>
                    <a:pt x="98679" y="108712"/>
                    <a:pt x="101473" y="106426"/>
                    <a:pt x="104013" y="103886"/>
                  </a:cubicBezTo>
                  <a:lnTo>
                    <a:pt x="107315" y="107188"/>
                  </a:lnTo>
                  <a:lnTo>
                    <a:pt x="104013" y="103886"/>
                  </a:lnTo>
                  <a:cubicBezTo>
                    <a:pt x="106553" y="101346"/>
                    <a:pt x="108839" y="98552"/>
                    <a:pt x="110871" y="95504"/>
                  </a:cubicBezTo>
                  <a:lnTo>
                    <a:pt x="114681" y="98044"/>
                  </a:lnTo>
                  <a:lnTo>
                    <a:pt x="110871" y="95504"/>
                  </a:lnTo>
                  <a:cubicBezTo>
                    <a:pt x="112903" y="92456"/>
                    <a:pt x="114554" y="89281"/>
                    <a:pt x="115951" y="85852"/>
                  </a:cubicBezTo>
                  <a:lnTo>
                    <a:pt x="120269" y="87630"/>
                  </a:lnTo>
                  <a:lnTo>
                    <a:pt x="115951" y="85852"/>
                  </a:lnTo>
                  <a:cubicBezTo>
                    <a:pt x="117348" y="82423"/>
                    <a:pt x="118364" y="78994"/>
                    <a:pt x="119126" y="75438"/>
                  </a:cubicBezTo>
                  <a:cubicBezTo>
                    <a:pt x="119888" y="71882"/>
                    <a:pt x="120142" y="68199"/>
                    <a:pt x="120142" y="64643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8904818" y="7897244"/>
            <a:ext cx="129550" cy="129550"/>
            <a:chOff x="0" y="0"/>
            <a:chExt cx="129553" cy="12955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129540" cy="129540"/>
            </a:xfrm>
            <a:custGeom>
              <a:avLst/>
              <a:gdLst/>
              <a:ahLst/>
              <a:cxnLst/>
              <a:rect l="l" t="t" r="r" b="b"/>
              <a:pathLst>
                <a:path w="129540" h="129540">
                  <a:moveTo>
                    <a:pt x="129540" y="64770"/>
                  </a:moveTo>
                  <a:cubicBezTo>
                    <a:pt x="129540" y="68961"/>
                    <a:pt x="129159" y="73279"/>
                    <a:pt x="128270" y="77470"/>
                  </a:cubicBezTo>
                  <a:lnTo>
                    <a:pt x="123698" y="76581"/>
                  </a:lnTo>
                  <a:lnTo>
                    <a:pt x="128270" y="77470"/>
                  </a:lnTo>
                  <a:cubicBezTo>
                    <a:pt x="127381" y="81661"/>
                    <a:pt x="126238" y="85725"/>
                    <a:pt x="124587" y="89662"/>
                  </a:cubicBezTo>
                  <a:lnTo>
                    <a:pt x="124587" y="89662"/>
                  </a:lnTo>
                  <a:lnTo>
                    <a:pt x="124587" y="89662"/>
                  </a:lnTo>
                  <a:cubicBezTo>
                    <a:pt x="122936" y="93599"/>
                    <a:pt x="120904" y="97282"/>
                    <a:pt x="118618" y="100838"/>
                  </a:cubicBezTo>
                  <a:lnTo>
                    <a:pt x="118618" y="100838"/>
                  </a:lnTo>
                  <a:lnTo>
                    <a:pt x="118618" y="100838"/>
                  </a:lnTo>
                  <a:cubicBezTo>
                    <a:pt x="116205" y="104394"/>
                    <a:pt x="113538" y="107696"/>
                    <a:pt x="110617" y="110617"/>
                  </a:cubicBezTo>
                  <a:lnTo>
                    <a:pt x="110617" y="110617"/>
                  </a:lnTo>
                  <a:lnTo>
                    <a:pt x="110617" y="110617"/>
                  </a:lnTo>
                  <a:cubicBezTo>
                    <a:pt x="107569" y="113665"/>
                    <a:pt x="104394" y="116332"/>
                    <a:pt x="100838" y="118618"/>
                  </a:cubicBezTo>
                  <a:lnTo>
                    <a:pt x="98298" y="114808"/>
                  </a:lnTo>
                  <a:lnTo>
                    <a:pt x="100838" y="118618"/>
                  </a:lnTo>
                  <a:cubicBezTo>
                    <a:pt x="97282" y="121031"/>
                    <a:pt x="93599" y="122936"/>
                    <a:pt x="89662" y="124587"/>
                  </a:cubicBezTo>
                  <a:lnTo>
                    <a:pt x="89662" y="124587"/>
                  </a:lnTo>
                  <a:lnTo>
                    <a:pt x="89662" y="124587"/>
                  </a:lnTo>
                  <a:cubicBezTo>
                    <a:pt x="85725" y="126238"/>
                    <a:pt x="81661" y="127381"/>
                    <a:pt x="77470" y="128270"/>
                  </a:cubicBezTo>
                  <a:lnTo>
                    <a:pt x="77470" y="128270"/>
                  </a:lnTo>
                  <a:lnTo>
                    <a:pt x="77470" y="128270"/>
                  </a:lnTo>
                  <a:cubicBezTo>
                    <a:pt x="73279" y="129159"/>
                    <a:pt x="69088" y="129540"/>
                    <a:pt x="64897" y="129540"/>
                  </a:cubicBezTo>
                  <a:lnTo>
                    <a:pt x="64897" y="129540"/>
                  </a:lnTo>
                  <a:lnTo>
                    <a:pt x="64897" y="129540"/>
                  </a:lnTo>
                  <a:cubicBezTo>
                    <a:pt x="60706" y="129540"/>
                    <a:pt x="56388" y="129159"/>
                    <a:pt x="52197" y="128270"/>
                  </a:cubicBezTo>
                  <a:lnTo>
                    <a:pt x="52197" y="128270"/>
                  </a:lnTo>
                  <a:lnTo>
                    <a:pt x="52197" y="128270"/>
                  </a:lnTo>
                  <a:cubicBezTo>
                    <a:pt x="48006" y="127381"/>
                    <a:pt x="43942" y="126238"/>
                    <a:pt x="40005" y="124587"/>
                  </a:cubicBezTo>
                  <a:lnTo>
                    <a:pt x="41783" y="120269"/>
                  </a:lnTo>
                  <a:lnTo>
                    <a:pt x="40005" y="124587"/>
                  </a:lnTo>
                  <a:cubicBezTo>
                    <a:pt x="36068" y="122936"/>
                    <a:pt x="32385" y="120904"/>
                    <a:pt x="28829" y="118618"/>
                  </a:cubicBezTo>
                  <a:lnTo>
                    <a:pt x="28829" y="118618"/>
                  </a:lnTo>
                  <a:lnTo>
                    <a:pt x="28829" y="118618"/>
                  </a:lnTo>
                  <a:cubicBezTo>
                    <a:pt x="25273" y="116205"/>
                    <a:pt x="21971" y="113538"/>
                    <a:pt x="19050" y="110617"/>
                  </a:cubicBezTo>
                  <a:lnTo>
                    <a:pt x="22352" y="107315"/>
                  </a:lnTo>
                  <a:lnTo>
                    <a:pt x="19050" y="110617"/>
                  </a:lnTo>
                  <a:cubicBezTo>
                    <a:pt x="16002" y="107569"/>
                    <a:pt x="13335" y="104394"/>
                    <a:pt x="11049" y="100838"/>
                  </a:cubicBezTo>
                  <a:lnTo>
                    <a:pt x="14859" y="98298"/>
                  </a:lnTo>
                  <a:lnTo>
                    <a:pt x="11049" y="100838"/>
                  </a:lnTo>
                  <a:cubicBezTo>
                    <a:pt x="8509" y="97282"/>
                    <a:pt x="6604" y="93472"/>
                    <a:pt x="4953" y="89535"/>
                  </a:cubicBezTo>
                  <a:lnTo>
                    <a:pt x="9271" y="87757"/>
                  </a:lnTo>
                  <a:lnTo>
                    <a:pt x="4953" y="89535"/>
                  </a:lnTo>
                  <a:cubicBezTo>
                    <a:pt x="3302" y="85598"/>
                    <a:pt x="2032" y="81534"/>
                    <a:pt x="1270" y="77470"/>
                  </a:cubicBezTo>
                  <a:lnTo>
                    <a:pt x="5842" y="76581"/>
                  </a:lnTo>
                  <a:lnTo>
                    <a:pt x="1270" y="77470"/>
                  </a:lnTo>
                  <a:cubicBezTo>
                    <a:pt x="381" y="73279"/>
                    <a:pt x="0" y="69088"/>
                    <a:pt x="0" y="64770"/>
                  </a:cubicBezTo>
                  <a:lnTo>
                    <a:pt x="4572" y="64770"/>
                  </a:lnTo>
                  <a:lnTo>
                    <a:pt x="0" y="64770"/>
                  </a:lnTo>
                  <a:cubicBezTo>
                    <a:pt x="0" y="60579"/>
                    <a:pt x="381" y="56261"/>
                    <a:pt x="1270" y="52070"/>
                  </a:cubicBezTo>
                  <a:lnTo>
                    <a:pt x="5842" y="52959"/>
                  </a:lnTo>
                  <a:lnTo>
                    <a:pt x="1270" y="52197"/>
                  </a:lnTo>
                  <a:cubicBezTo>
                    <a:pt x="2159" y="48006"/>
                    <a:pt x="3302" y="43942"/>
                    <a:pt x="4953" y="40005"/>
                  </a:cubicBezTo>
                  <a:lnTo>
                    <a:pt x="4953" y="40005"/>
                  </a:lnTo>
                  <a:lnTo>
                    <a:pt x="4953" y="40005"/>
                  </a:lnTo>
                  <a:cubicBezTo>
                    <a:pt x="6604" y="36068"/>
                    <a:pt x="8636" y="32385"/>
                    <a:pt x="10922" y="28829"/>
                  </a:cubicBezTo>
                  <a:lnTo>
                    <a:pt x="14732" y="31369"/>
                  </a:lnTo>
                  <a:lnTo>
                    <a:pt x="10922" y="28829"/>
                  </a:lnTo>
                  <a:cubicBezTo>
                    <a:pt x="13335" y="25273"/>
                    <a:pt x="16002" y="21971"/>
                    <a:pt x="18923" y="19050"/>
                  </a:cubicBezTo>
                  <a:lnTo>
                    <a:pt x="22225" y="22352"/>
                  </a:lnTo>
                  <a:lnTo>
                    <a:pt x="18923" y="19050"/>
                  </a:lnTo>
                  <a:cubicBezTo>
                    <a:pt x="21971" y="16002"/>
                    <a:pt x="25146" y="13335"/>
                    <a:pt x="28702" y="11049"/>
                  </a:cubicBezTo>
                  <a:lnTo>
                    <a:pt x="31242" y="14859"/>
                  </a:lnTo>
                  <a:lnTo>
                    <a:pt x="28702" y="11049"/>
                  </a:lnTo>
                  <a:cubicBezTo>
                    <a:pt x="32258" y="8636"/>
                    <a:pt x="35941" y="6731"/>
                    <a:pt x="39878" y="5080"/>
                  </a:cubicBezTo>
                  <a:lnTo>
                    <a:pt x="41656" y="9398"/>
                  </a:lnTo>
                  <a:lnTo>
                    <a:pt x="40005" y="4953"/>
                  </a:lnTo>
                  <a:cubicBezTo>
                    <a:pt x="43942" y="3302"/>
                    <a:pt x="48006" y="2159"/>
                    <a:pt x="52197" y="1270"/>
                  </a:cubicBezTo>
                  <a:lnTo>
                    <a:pt x="53086" y="5842"/>
                  </a:lnTo>
                  <a:lnTo>
                    <a:pt x="52197" y="1270"/>
                  </a:lnTo>
                  <a:cubicBezTo>
                    <a:pt x="56388" y="381"/>
                    <a:pt x="60579" y="0"/>
                    <a:pt x="64897" y="0"/>
                  </a:cubicBezTo>
                  <a:lnTo>
                    <a:pt x="64897" y="4572"/>
                  </a:lnTo>
                  <a:lnTo>
                    <a:pt x="64897" y="0"/>
                  </a:lnTo>
                  <a:cubicBezTo>
                    <a:pt x="69088" y="0"/>
                    <a:pt x="73406" y="381"/>
                    <a:pt x="77597" y="1270"/>
                  </a:cubicBezTo>
                  <a:lnTo>
                    <a:pt x="76454" y="5842"/>
                  </a:lnTo>
                  <a:lnTo>
                    <a:pt x="77470" y="1270"/>
                  </a:lnTo>
                  <a:cubicBezTo>
                    <a:pt x="81661" y="2159"/>
                    <a:pt x="85725" y="3302"/>
                    <a:pt x="89662" y="4953"/>
                  </a:cubicBezTo>
                  <a:lnTo>
                    <a:pt x="87757" y="9144"/>
                  </a:lnTo>
                  <a:lnTo>
                    <a:pt x="89535" y="4953"/>
                  </a:lnTo>
                  <a:cubicBezTo>
                    <a:pt x="93472" y="6604"/>
                    <a:pt x="97155" y="8636"/>
                    <a:pt x="100711" y="10922"/>
                  </a:cubicBezTo>
                  <a:lnTo>
                    <a:pt x="98171" y="14732"/>
                  </a:lnTo>
                  <a:lnTo>
                    <a:pt x="100711" y="10922"/>
                  </a:lnTo>
                  <a:cubicBezTo>
                    <a:pt x="104267" y="13335"/>
                    <a:pt x="107569" y="16002"/>
                    <a:pt x="110490" y="18923"/>
                  </a:cubicBezTo>
                  <a:lnTo>
                    <a:pt x="110490" y="18923"/>
                  </a:lnTo>
                  <a:lnTo>
                    <a:pt x="110490" y="18923"/>
                  </a:lnTo>
                  <a:cubicBezTo>
                    <a:pt x="113538" y="21971"/>
                    <a:pt x="116205" y="25146"/>
                    <a:pt x="118491" y="28702"/>
                  </a:cubicBezTo>
                  <a:lnTo>
                    <a:pt x="114681" y="31242"/>
                  </a:lnTo>
                  <a:lnTo>
                    <a:pt x="118491" y="28702"/>
                  </a:lnTo>
                  <a:cubicBezTo>
                    <a:pt x="120904" y="32258"/>
                    <a:pt x="122809" y="35941"/>
                    <a:pt x="124460" y="39878"/>
                  </a:cubicBezTo>
                  <a:lnTo>
                    <a:pt x="124460" y="39878"/>
                  </a:lnTo>
                  <a:lnTo>
                    <a:pt x="124460" y="39878"/>
                  </a:lnTo>
                  <a:cubicBezTo>
                    <a:pt x="126111" y="43815"/>
                    <a:pt x="127254" y="47879"/>
                    <a:pt x="128143" y="52070"/>
                  </a:cubicBezTo>
                  <a:lnTo>
                    <a:pt x="123571" y="52959"/>
                  </a:lnTo>
                  <a:lnTo>
                    <a:pt x="128143" y="52070"/>
                  </a:lnTo>
                  <a:cubicBezTo>
                    <a:pt x="129032" y="56261"/>
                    <a:pt x="129413" y="60452"/>
                    <a:pt x="129413" y="64770"/>
                  </a:cubicBezTo>
                  <a:lnTo>
                    <a:pt x="124968" y="64770"/>
                  </a:lnTo>
                  <a:lnTo>
                    <a:pt x="129540" y="64770"/>
                  </a:lnTo>
                  <a:moveTo>
                    <a:pt x="120269" y="64770"/>
                  </a:moveTo>
                  <a:cubicBezTo>
                    <a:pt x="120269" y="61087"/>
                    <a:pt x="119888" y="57531"/>
                    <a:pt x="119253" y="53975"/>
                  </a:cubicBezTo>
                  <a:lnTo>
                    <a:pt x="119253" y="53975"/>
                  </a:lnTo>
                  <a:lnTo>
                    <a:pt x="119253" y="53975"/>
                  </a:lnTo>
                  <a:cubicBezTo>
                    <a:pt x="118491" y="50419"/>
                    <a:pt x="117475" y="46990"/>
                    <a:pt x="116078" y="43561"/>
                  </a:cubicBezTo>
                  <a:lnTo>
                    <a:pt x="120396" y="41783"/>
                  </a:lnTo>
                  <a:lnTo>
                    <a:pt x="116078" y="43561"/>
                  </a:lnTo>
                  <a:cubicBezTo>
                    <a:pt x="114681" y="40132"/>
                    <a:pt x="113030" y="36957"/>
                    <a:pt x="110998" y="33909"/>
                  </a:cubicBezTo>
                  <a:cubicBezTo>
                    <a:pt x="108966" y="30861"/>
                    <a:pt x="106680" y="28067"/>
                    <a:pt x="104140" y="25527"/>
                  </a:cubicBezTo>
                  <a:lnTo>
                    <a:pt x="107442" y="22225"/>
                  </a:lnTo>
                  <a:lnTo>
                    <a:pt x="104140" y="25527"/>
                  </a:lnTo>
                  <a:cubicBezTo>
                    <a:pt x="101600" y="22987"/>
                    <a:pt x="98806" y="20701"/>
                    <a:pt x="95758" y="18669"/>
                  </a:cubicBezTo>
                  <a:cubicBezTo>
                    <a:pt x="92710" y="16637"/>
                    <a:pt x="89535" y="14986"/>
                    <a:pt x="86106" y="13589"/>
                  </a:cubicBezTo>
                  <a:lnTo>
                    <a:pt x="86106" y="13589"/>
                  </a:lnTo>
                  <a:lnTo>
                    <a:pt x="86106" y="13589"/>
                  </a:lnTo>
                  <a:cubicBezTo>
                    <a:pt x="82677" y="12065"/>
                    <a:pt x="79121" y="11049"/>
                    <a:pt x="75565" y="10287"/>
                  </a:cubicBezTo>
                  <a:lnTo>
                    <a:pt x="75565" y="10287"/>
                  </a:lnTo>
                  <a:lnTo>
                    <a:pt x="75565" y="10287"/>
                  </a:lnTo>
                  <a:cubicBezTo>
                    <a:pt x="72009" y="9652"/>
                    <a:pt x="68453" y="9271"/>
                    <a:pt x="64770" y="9271"/>
                  </a:cubicBezTo>
                  <a:cubicBezTo>
                    <a:pt x="61087" y="9271"/>
                    <a:pt x="57531" y="9652"/>
                    <a:pt x="53975" y="10287"/>
                  </a:cubicBezTo>
                  <a:lnTo>
                    <a:pt x="53975" y="10287"/>
                  </a:lnTo>
                  <a:lnTo>
                    <a:pt x="53975" y="10287"/>
                  </a:lnTo>
                  <a:cubicBezTo>
                    <a:pt x="50419" y="11049"/>
                    <a:pt x="46990" y="12065"/>
                    <a:pt x="43561" y="13462"/>
                  </a:cubicBezTo>
                  <a:lnTo>
                    <a:pt x="43561" y="13462"/>
                  </a:lnTo>
                  <a:lnTo>
                    <a:pt x="43561" y="13462"/>
                  </a:lnTo>
                  <a:cubicBezTo>
                    <a:pt x="40132" y="14859"/>
                    <a:pt x="36957" y="16510"/>
                    <a:pt x="33909" y="18542"/>
                  </a:cubicBezTo>
                  <a:lnTo>
                    <a:pt x="33909" y="18542"/>
                  </a:lnTo>
                  <a:lnTo>
                    <a:pt x="33909" y="18542"/>
                  </a:lnTo>
                  <a:cubicBezTo>
                    <a:pt x="30861" y="20574"/>
                    <a:pt x="28067" y="22860"/>
                    <a:pt x="25527" y="25400"/>
                  </a:cubicBezTo>
                  <a:lnTo>
                    <a:pt x="25527" y="25400"/>
                  </a:lnTo>
                  <a:lnTo>
                    <a:pt x="25527" y="25400"/>
                  </a:lnTo>
                  <a:cubicBezTo>
                    <a:pt x="22987" y="27940"/>
                    <a:pt x="20701" y="30734"/>
                    <a:pt x="18669" y="33782"/>
                  </a:cubicBezTo>
                  <a:lnTo>
                    <a:pt x="18669" y="33782"/>
                  </a:lnTo>
                  <a:lnTo>
                    <a:pt x="18669" y="33782"/>
                  </a:lnTo>
                  <a:cubicBezTo>
                    <a:pt x="16637" y="36830"/>
                    <a:pt x="14986" y="40005"/>
                    <a:pt x="13589" y="43434"/>
                  </a:cubicBezTo>
                  <a:lnTo>
                    <a:pt x="9144" y="41783"/>
                  </a:lnTo>
                  <a:lnTo>
                    <a:pt x="13462" y="43561"/>
                  </a:lnTo>
                  <a:cubicBezTo>
                    <a:pt x="12065" y="46990"/>
                    <a:pt x="11049" y="50419"/>
                    <a:pt x="10287" y="53975"/>
                  </a:cubicBezTo>
                  <a:lnTo>
                    <a:pt x="10287" y="53975"/>
                  </a:lnTo>
                  <a:lnTo>
                    <a:pt x="10287" y="53975"/>
                  </a:lnTo>
                  <a:cubicBezTo>
                    <a:pt x="9525" y="57531"/>
                    <a:pt x="9271" y="61214"/>
                    <a:pt x="9271" y="64770"/>
                  </a:cubicBezTo>
                  <a:cubicBezTo>
                    <a:pt x="9271" y="68326"/>
                    <a:pt x="9652" y="72009"/>
                    <a:pt x="10287" y="75565"/>
                  </a:cubicBezTo>
                  <a:cubicBezTo>
                    <a:pt x="10922" y="79121"/>
                    <a:pt x="12065" y="82550"/>
                    <a:pt x="13462" y="85979"/>
                  </a:cubicBezTo>
                  <a:cubicBezTo>
                    <a:pt x="14859" y="89408"/>
                    <a:pt x="16510" y="92583"/>
                    <a:pt x="18542" y="95631"/>
                  </a:cubicBezTo>
                  <a:lnTo>
                    <a:pt x="18542" y="95631"/>
                  </a:lnTo>
                  <a:lnTo>
                    <a:pt x="18542" y="95631"/>
                  </a:lnTo>
                  <a:cubicBezTo>
                    <a:pt x="20574" y="98679"/>
                    <a:pt x="22860" y="101473"/>
                    <a:pt x="25400" y="104013"/>
                  </a:cubicBezTo>
                  <a:lnTo>
                    <a:pt x="25400" y="104013"/>
                  </a:lnTo>
                  <a:lnTo>
                    <a:pt x="25400" y="104013"/>
                  </a:lnTo>
                  <a:cubicBezTo>
                    <a:pt x="27940" y="106553"/>
                    <a:pt x="30734" y="108839"/>
                    <a:pt x="33782" y="110871"/>
                  </a:cubicBezTo>
                  <a:lnTo>
                    <a:pt x="31242" y="114681"/>
                  </a:lnTo>
                  <a:lnTo>
                    <a:pt x="33782" y="110871"/>
                  </a:lnTo>
                  <a:cubicBezTo>
                    <a:pt x="36830" y="112903"/>
                    <a:pt x="40005" y="114554"/>
                    <a:pt x="43434" y="115951"/>
                  </a:cubicBezTo>
                  <a:lnTo>
                    <a:pt x="43434" y="115951"/>
                  </a:lnTo>
                  <a:lnTo>
                    <a:pt x="43434" y="115951"/>
                  </a:lnTo>
                  <a:cubicBezTo>
                    <a:pt x="46863" y="117348"/>
                    <a:pt x="50292" y="118364"/>
                    <a:pt x="53848" y="119126"/>
                  </a:cubicBezTo>
                  <a:lnTo>
                    <a:pt x="52959" y="123698"/>
                  </a:lnTo>
                  <a:lnTo>
                    <a:pt x="53848" y="119126"/>
                  </a:lnTo>
                  <a:cubicBezTo>
                    <a:pt x="57404" y="119888"/>
                    <a:pt x="61087" y="120142"/>
                    <a:pt x="64643" y="120142"/>
                  </a:cubicBezTo>
                  <a:lnTo>
                    <a:pt x="64643" y="124714"/>
                  </a:lnTo>
                  <a:lnTo>
                    <a:pt x="64643" y="120142"/>
                  </a:lnTo>
                  <a:cubicBezTo>
                    <a:pt x="68326" y="120142"/>
                    <a:pt x="71882" y="119761"/>
                    <a:pt x="75438" y="119126"/>
                  </a:cubicBezTo>
                  <a:lnTo>
                    <a:pt x="76327" y="123698"/>
                  </a:lnTo>
                  <a:lnTo>
                    <a:pt x="75438" y="119126"/>
                  </a:lnTo>
                  <a:cubicBezTo>
                    <a:pt x="78994" y="118364"/>
                    <a:pt x="82423" y="117348"/>
                    <a:pt x="85852" y="115951"/>
                  </a:cubicBezTo>
                  <a:lnTo>
                    <a:pt x="87630" y="120269"/>
                  </a:lnTo>
                  <a:lnTo>
                    <a:pt x="85852" y="115951"/>
                  </a:lnTo>
                  <a:cubicBezTo>
                    <a:pt x="89281" y="114554"/>
                    <a:pt x="92456" y="112903"/>
                    <a:pt x="95504" y="110871"/>
                  </a:cubicBezTo>
                  <a:cubicBezTo>
                    <a:pt x="98552" y="108839"/>
                    <a:pt x="101346" y="106553"/>
                    <a:pt x="103886" y="104013"/>
                  </a:cubicBezTo>
                  <a:lnTo>
                    <a:pt x="107188" y="107315"/>
                  </a:lnTo>
                  <a:lnTo>
                    <a:pt x="103886" y="104013"/>
                  </a:lnTo>
                  <a:cubicBezTo>
                    <a:pt x="106426" y="101473"/>
                    <a:pt x="108712" y="98679"/>
                    <a:pt x="110744" y="95631"/>
                  </a:cubicBezTo>
                  <a:lnTo>
                    <a:pt x="114554" y="98171"/>
                  </a:lnTo>
                  <a:lnTo>
                    <a:pt x="110744" y="95631"/>
                  </a:lnTo>
                  <a:cubicBezTo>
                    <a:pt x="112776" y="92583"/>
                    <a:pt x="114427" y="89408"/>
                    <a:pt x="115824" y="85979"/>
                  </a:cubicBezTo>
                  <a:lnTo>
                    <a:pt x="120142" y="87757"/>
                  </a:lnTo>
                  <a:lnTo>
                    <a:pt x="115824" y="85979"/>
                  </a:lnTo>
                  <a:cubicBezTo>
                    <a:pt x="117221" y="82550"/>
                    <a:pt x="118237" y="79121"/>
                    <a:pt x="118999" y="75565"/>
                  </a:cubicBezTo>
                  <a:cubicBezTo>
                    <a:pt x="119761" y="72009"/>
                    <a:pt x="120015" y="68326"/>
                    <a:pt x="120015" y="6477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16785765" y="9806388"/>
            <a:ext cx="965940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77332" y="1106014"/>
            <a:ext cx="7369216" cy="2134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08"/>
              </a:lnSpc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Project Overview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570233" y="2334339"/>
            <a:ext cx="9039997" cy="3653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27"/>
              </a:lnSpc>
            </a:pPr>
            <a:r>
              <a:rPr lang="en-US" sz="3186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Project Name</a:t>
            </a:r>
            <a:r>
              <a:rPr lang="en-US" sz="318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Network Security Fundamentals and FortiGate Integration </a:t>
            </a:r>
            <a:r>
              <a:rPr lang="en-US" sz="3186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Goal</a:t>
            </a:r>
            <a:r>
              <a:rPr lang="en-US" sz="3186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: Build a secure and segmented network using FortiGate Firewall </a:t>
            </a:r>
            <a:r>
              <a:rPr lang="en-US" sz="3186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Focus Areas: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9216257" y="6066758"/>
            <a:ext cx="4270105" cy="20825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3"/>
              </a:lnSpc>
            </a:pPr>
            <a:r>
              <a:rPr lang="en-US" sz="3088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Threat analysis FortiGate deployment NAT &amp; Firewall policies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0223735" y="3127258"/>
            <a:ext cx="3076146" cy="2709939"/>
          </a:xfrm>
          <a:custGeom>
            <a:avLst/>
            <a:gdLst/>
            <a:ahLst/>
            <a:cxnLst/>
            <a:rect l="l" t="t" r="r" b="b"/>
            <a:pathLst>
              <a:path w="3076146" h="2709939">
                <a:moveTo>
                  <a:pt x="0" y="0"/>
                </a:moveTo>
                <a:lnTo>
                  <a:pt x="3076146" y="0"/>
                </a:lnTo>
                <a:lnTo>
                  <a:pt x="3076146" y="2709938"/>
                </a:lnTo>
                <a:lnTo>
                  <a:pt x="0" y="27099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0287229" y="3190723"/>
            <a:ext cx="2946206" cy="2582970"/>
          </a:xfrm>
          <a:custGeom>
            <a:avLst/>
            <a:gdLst/>
            <a:ahLst/>
            <a:cxnLst/>
            <a:rect l="l" t="t" r="r" b="b"/>
            <a:pathLst>
              <a:path w="2946206" h="2582970">
                <a:moveTo>
                  <a:pt x="0" y="0"/>
                </a:moveTo>
                <a:lnTo>
                  <a:pt x="2946206" y="0"/>
                </a:lnTo>
                <a:lnTo>
                  <a:pt x="2946206" y="2582970"/>
                </a:lnTo>
                <a:lnTo>
                  <a:pt x="0" y="25829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5744" r="-157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3658974" y="3190723"/>
            <a:ext cx="2946206" cy="2582970"/>
          </a:xfrm>
          <a:custGeom>
            <a:avLst/>
            <a:gdLst/>
            <a:ahLst/>
            <a:cxnLst/>
            <a:rect l="l" t="t" r="r" b="b"/>
            <a:pathLst>
              <a:path w="2946206" h="2582970">
                <a:moveTo>
                  <a:pt x="0" y="0"/>
                </a:moveTo>
                <a:lnTo>
                  <a:pt x="2946206" y="0"/>
                </a:lnTo>
                <a:lnTo>
                  <a:pt x="2946206" y="2582970"/>
                </a:lnTo>
                <a:lnTo>
                  <a:pt x="0" y="25829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t="-35686" b="-3579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237441" y="6003512"/>
            <a:ext cx="2946206" cy="2582970"/>
          </a:xfrm>
          <a:custGeom>
            <a:avLst/>
            <a:gdLst/>
            <a:ahLst/>
            <a:cxnLst/>
            <a:rect l="l" t="t" r="r" b="b"/>
            <a:pathLst>
              <a:path w="2946206" h="2582970">
                <a:moveTo>
                  <a:pt x="0" y="0"/>
                </a:moveTo>
                <a:lnTo>
                  <a:pt x="2946207" y="0"/>
                </a:lnTo>
                <a:lnTo>
                  <a:pt x="2946207" y="2582971"/>
                </a:lnTo>
                <a:lnTo>
                  <a:pt x="0" y="25829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5744" r="-157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3609177" y="6003512"/>
            <a:ext cx="2946206" cy="2582970"/>
          </a:xfrm>
          <a:custGeom>
            <a:avLst/>
            <a:gdLst/>
            <a:ahLst/>
            <a:cxnLst/>
            <a:rect l="l" t="t" r="r" b="b"/>
            <a:pathLst>
              <a:path w="2946206" h="2582970">
                <a:moveTo>
                  <a:pt x="0" y="0"/>
                </a:moveTo>
                <a:lnTo>
                  <a:pt x="2946206" y="0"/>
                </a:lnTo>
                <a:lnTo>
                  <a:pt x="2946206" y="2582971"/>
                </a:lnTo>
                <a:lnTo>
                  <a:pt x="0" y="25829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15744" r="-1576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845364" y="4272039"/>
            <a:ext cx="418509" cy="418509"/>
          </a:xfrm>
          <a:custGeom>
            <a:avLst/>
            <a:gdLst/>
            <a:ahLst/>
            <a:cxnLst/>
            <a:rect l="l" t="t" r="r" b="b"/>
            <a:pathLst>
              <a:path w="418509" h="418509">
                <a:moveTo>
                  <a:pt x="0" y="0"/>
                </a:moveTo>
                <a:lnTo>
                  <a:pt x="418509" y="0"/>
                </a:lnTo>
                <a:lnTo>
                  <a:pt x="418509" y="418509"/>
                </a:lnTo>
                <a:lnTo>
                  <a:pt x="0" y="4185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365760" y="2560320"/>
            <a:ext cx="9272016" cy="1298448"/>
          </a:xfrm>
          <a:custGeom>
            <a:avLst/>
            <a:gdLst/>
            <a:ahLst/>
            <a:cxnLst/>
            <a:rect l="l" t="t" r="r" b="b"/>
            <a:pathLst>
              <a:path w="9272016" h="1298448">
                <a:moveTo>
                  <a:pt x="0" y="0"/>
                </a:moveTo>
                <a:lnTo>
                  <a:pt x="9272016" y="0"/>
                </a:lnTo>
                <a:lnTo>
                  <a:pt x="9272016" y="1298448"/>
                </a:lnTo>
                <a:lnTo>
                  <a:pt x="0" y="129844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32" r="-32" b="-23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2002536" y="4873752"/>
            <a:ext cx="5620512" cy="1466088"/>
          </a:xfrm>
          <a:custGeom>
            <a:avLst/>
            <a:gdLst/>
            <a:ahLst/>
            <a:cxnLst/>
            <a:rect l="l" t="t" r="r" b="b"/>
            <a:pathLst>
              <a:path w="5620512" h="1466088">
                <a:moveTo>
                  <a:pt x="0" y="0"/>
                </a:moveTo>
                <a:lnTo>
                  <a:pt x="5620512" y="0"/>
                </a:lnTo>
                <a:lnTo>
                  <a:pt x="5620512" y="1466088"/>
                </a:lnTo>
                <a:lnTo>
                  <a:pt x="0" y="1466088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2102539" y="5039630"/>
            <a:ext cx="85725" cy="85725"/>
            <a:chOff x="0" y="0"/>
            <a:chExt cx="85725" cy="85725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2102539" y="5573030"/>
            <a:ext cx="85725" cy="85725"/>
            <a:chOff x="0" y="0"/>
            <a:chExt cx="85725" cy="8572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2102539" y="6106430"/>
            <a:ext cx="85725" cy="85725"/>
            <a:chOff x="0" y="0"/>
            <a:chExt cx="85725" cy="85725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Freeform 22"/>
          <p:cNvSpPr/>
          <p:nvPr/>
        </p:nvSpPr>
        <p:spPr>
          <a:xfrm>
            <a:off x="1920240" y="4358640"/>
            <a:ext cx="249936" cy="265176"/>
          </a:xfrm>
          <a:custGeom>
            <a:avLst/>
            <a:gdLst/>
            <a:ahLst/>
            <a:cxnLst/>
            <a:rect l="l" t="t" r="r" b="b"/>
            <a:pathLst>
              <a:path w="249936" h="265176">
                <a:moveTo>
                  <a:pt x="0" y="0"/>
                </a:moveTo>
                <a:lnTo>
                  <a:pt x="249936" y="0"/>
                </a:lnTo>
                <a:lnTo>
                  <a:pt x="249936" y="265176"/>
                </a:lnTo>
                <a:lnTo>
                  <a:pt x="0" y="2651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3" name="Freeform 23"/>
          <p:cNvSpPr/>
          <p:nvPr/>
        </p:nvSpPr>
        <p:spPr>
          <a:xfrm>
            <a:off x="2365248" y="4367784"/>
            <a:ext cx="1264920" cy="408432"/>
          </a:xfrm>
          <a:custGeom>
            <a:avLst/>
            <a:gdLst/>
            <a:ahLst/>
            <a:cxnLst/>
            <a:rect l="l" t="t" r="r" b="b"/>
            <a:pathLst>
              <a:path w="1264920" h="408432">
                <a:moveTo>
                  <a:pt x="0" y="0"/>
                </a:moveTo>
                <a:lnTo>
                  <a:pt x="1264920" y="0"/>
                </a:lnTo>
                <a:lnTo>
                  <a:pt x="1264920" y="408432"/>
                </a:lnTo>
                <a:lnTo>
                  <a:pt x="0" y="40843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4" name="Freeform 24"/>
          <p:cNvSpPr/>
          <p:nvPr/>
        </p:nvSpPr>
        <p:spPr>
          <a:xfrm>
            <a:off x="1845364" y="6699914"/>
            <a:ext cx="418509" cy="418509"/>
          </a:xfrm>
          <a:custGeom>
            <a:avLst/>
            <a:gdLst/>
            <a:ahLst/>
            <a:cxnLst/>
            <a:rect l="l" t="t" r="r" b="b"/>
            <a:pathLst>
              <a:path w="418509" h="418509">
                <a:moveTo>
                  <a:pt x="0" y="0"/>
                </a:moveTo>
                <a:lnTo>
                  <a:pt x="418509" y="0"/>
                </a:lnTo>
                <a:lnTo>
                  <a:pt x="418509" y="418509"/>
                </a:lnTo>
                <a:lnTo>
                  <a:pt x="0" y="418509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5" name="Freeform 25"/>
          <p:cNvSpPr/>
          <p:nvPr/>
        </p:nvSpPr>
        <p:spPr>
          <a:xfrm>
            <a:off x="1993392" y="7281672"/>
            <a:ext cx="4629912" cy="1456944"/>
          </a:xfrm>
          <a:custGeom>
            <a:avLst/>
            <a:gdLst/>
            <a:ahLst/>
            <a:cxnLst/>
            <a:rect l="l" t="t" r="r" b="b"/>
            <a:pathLst>
              <a:path w="4629912" h="1456944">
                <a:moveTo>
                  <a:pt x="0" y="0"/>
                </a:moveTo>
                <a:lnTo>
                  <a:pt x="4629912" y="0"/>
                </a:lnTo>
                <a:lnTo>
                  <a:pt x="4629912" y="1456944"/>
                </a:lnTo>
                <a:lnTo>
                  <a:pt x="0" y="1456944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26"/>
          <p:cNvGrpSpPr>
            <a:grpSpLocks noChangeAspect="1"/>
          </p:cNvGrpSpPr>
          <p:nvPr/>
        </p:nvGrpSpPr>
        <p:grpSpPr>
          <a:xfrm>
            <a:off x="2073964" y="7418556"/>
            <a:ext cx="85725" cy="85725"/>
            <a:chOff x="0" y="0"/>
            <a:chExt cx="85725" cy="85725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8" name="Group 28"/>
          <p:cNvGrpSpPr>
            <a:grpSpLocks noChangeAspect="1"/>
          </p:cNvGrpSpPr>
          <p:nvPr/>
        </p:nvGrpSpPr>
        <p:grpSpPr>
          <a:xfrm>
            <a:off x="2073964" y="7932906"/>
            <a:ext cx="85725" cy="85725"/>
            <a:chOff x="0" y="0"/>
            <a:chExt cx="85725" cy="85725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0"/>
          <p:cNvGrpSpPr>
            <a:grpSpLocks noChangeAspect="1"/>
          </p:cNvGrpSpPr>
          <p:nvPr/>
        </p:nvGrpSpPr>
        <p:grpSpPr>
          <a:xfrm>
            <a:off x="2073964" y="8447256"/>
            <a:ext cx="85725" cy="85725"/>
            <a:chOff x="0" y="0"/>
            <a:chExt cx="85725" cy="85725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85725" cy="85725"/>
            </a:xfrm>
            <a:custGeom>
              <a:avLst/>
              <a:gdLst/>
              <a:ahLst/>
              <a:cxnLst/>
              <a:rect l="l" t="t" r="r" b="b"/>
              <a:pathLst>
                <a:path w="85725" h="85725">
                  <a:moveTo>
                    <a:pt x="85725" y="42926"/>
                  </a:moveTo>
                  <a:cubicBezTo>
                    <a:pt x="85725" y="48641"/>
                    <a:pt x="84582" y="54102"/>
                    <a:pt x="82423" y="59309"/>
                  </a:cubicBezTo>
                  <a:cubicBezTo>
                    <a:pt x="80264" y="64516"/>
                    <a:pt x="77089" y="69215"/>
                    <a:pt x="73152" y="73152"/>
                  </a:cubicBezTo>
                  <a:cubicBezTo>
                    <a:pt x="69215" y="77089"/>
                    <a:pt x="64516" y="80264"/>
                    <a:pt x="59309" y="82423"/>
                  </a:cubicBezTo>
                  <a:cubicBezTo>
                    <a:pt x="54102" y="84582"/>
                    <a:pt x="48641" y="85725"/>
                    <a:pt x="42926" y="85725"/>
                  </a:cubicBezTo>
                  <a:cubicBezTo>
                    <a:pt x="37211" y="85725"/>
                    <a:pt x="31750" y="84582"/>
                    <a:pt x="26543" y="82423"/>
                  </a:cubicBezTo>
                  <a:cubicBezTo>
                    <a:pt x="21336" y="80264"/>
                    <a:pt x="16510" y="77216"/>
                    <a:pt x="12573" y="73152"/>
                  </a:cubicBezTo>
                  <a:cubicBezTo>
                    <a:pt x="8636" y="69088"/>
                    <a:pt x="5461" y="64516"/>
                    <a:pt x="3302" y="59309"/>
                  </a:cubicBezTo>
                  <a:cubicBezTo>
                    <a:pt x="1143" y="54102"/>
                    <a:pt x="0" y="48514"/>
                    <a:pt x="0" y="42926"/>
                  </a:cubicBezTo>
                  <a:cubicBezTo>
                    <a:pt x="0" y="37338"/>
                    <a:pt x="1143" y="31750"/>
                    <a:pt x="3302" y="26416"/>
                  </a:cubicBezTo>
                  <a:cubicBezTo>
                    <a:pt x="5461" y="21082"/>
                    <a:pt x="8509" y="16510"/>
                    <a:pt x="12573" y="12573"/>
                  </a:cubicBezTo>
                  <a:cubicBezTo>
                    <a:pt x="16637" y="8636"/>
                    <a:pt x="21209" y="5461"/>
                    <a:pt x="26416" y="3302"/>
                  </a:cubicBezTo>
                  <a:cubicBezTo>
                    <a:pt x="31623" y="1143"/>
                    <a:pt x="37211" y="0"/>
                    <a:pt x="42926" y="0"/>
                  </a:cubicBezTo>
                  <a:cubicBezTo>
                    <a:pt x="48641" y="0"/>
                    <a:pt x="54102" y="1143"/>
                    <a:pt x="59309" y="3302"/>
                  </a:cubicBezTo>
                  <a:cubicBezTo>
                    <a:pt x="64516" y="5461"/>
                    <a:pt x="69215" y="8636"/>
                    <a:pt x="73152" y="12573"/>
                  </a:cubicBezTo>
                  <a:cubicBezTo>
                    <a:pt x="77089" y="16510"/>
                    <a:pt x="80264" y="21209"/>
                    <a:pt x="82423" y="26416"/>
                  </a:cubicBezTo>
                  <a:cubicBezTo>
                    <a:pt x="84582" y="31623"/>
                    <a:pt x="85725" y="37084"/>
                    <a:pt x="85725" y="4279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2" name="Freeform 32"/>
          <p:cNvSpPr/>
          <p:nvPr/>
        </p:nvSpPr>
        <p:spPr>
          <a:xfrm>
            <a:off x="1993392" y="6784848"/>
            <a:ext cx="256032" cy="268224"/>
          </a:xfrm>
          <a:custGeom>
            <a:avLst/>
            <a:gdLst/>
            <a:ahLst/>
            <a:cxnLst/>
            <a:rect l="l" t="t" r="r" b="b"/>
            <a:pathLst>
              <a:path w="256032" h="268224">
                <a:moveTo>
                  <a:pt x="0" y="0"/>
                </a:moveTo>
                <a:lnTo>
                  <a:pt x="256032" y="0"/>
                </a:lnTo>
                <a:lnTo>
                  <a:pt x="256032" y="268224"/>
                </a:lnTo>
                <a:lnTo>
                  <a:pt x="0" y="268224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2365248" y="6669024"/>
            <a:ext cx="2103120" cy="408432"/>
          </a:xfrm>
          <a:custGeom>
            <a:avLst/>
            <a:gdLst/>
            <a:ahLst/>
            <a:cxnLst/>
            <a:rect l="l" t="t" r="r" b="b"/>
            <a:pathLst>
              <a:path w="2103120" h="408432">
                <a:moveTo>
                  <a:pt x="0" y="0"/>
                </a:moveTo>
                <a:lnTo>
                  <a:pt x="2103120" y="0"/>
                </a:lnTo>
                <a:lnTo>
                  <a:pt x="2103120" y="408432"/>
                </a:lnTo>
                <a:lnTo>
                  <a:pt x="0" y="40843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4" name="Group 34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2054685" y="6740309"/>
            <a:ext cx="145209" cy="287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11"/>
              </a:lnSpc>
            </a:pPr>
            <a:r>
              <a:rPr lang="en-US" sz="15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2.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16785022" y="9806388"/>
            <a:ext cx="967454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48345" y="3110303"/>
            <a:ext cx="9065419" cy="6195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46"/>
              </a:lnSpc>
            </a:pPr>
            <a:r>
              <a:rPr lang="en-US" sz="6693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Project Goals &amp; Objectives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983429" y="4150509"/>
            <a:ext cx="126187" cy="448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8"/>
              </a:lnSpc>
            </a:pPr>
            <a:r>
              <a:rPr lang="en-US" sz="15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1.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435914" y="4517698"/>
            <a:ext cx="1154916" cy="223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24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GOALS: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337540" y="4732953"/>
            <a:ext cx="5299634" cy="15646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22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Establish a strong security posture Deploy a secure NGFW environment Control inbound and outbound traffic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435914" y="6608664"/>
            <a:ext cx="2008632" cy="432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71"/>
              </a:lnSpc>
            </a:pPr>
            <a:r>
              <a:rPr lang="en-US" sz="24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OBJECTIVES: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315956" y="7143102"/>
            <a:ext cx="4314396" cy="150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49"/>
              </a:lnSpc>
            </a:pPr>
            <a:r>
              <a:rPr lang="en-US" sz="21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Analyze cyber threats Configure FortiGate VM Implement NAT &amp; Firewall rules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2237794" y="4089002"/>
            <a:ext cx="4250122" cy="4945590"/>
            <a:chOff x="0" y="0"/>
            <a:chExt cx="5666829" cy="659411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66740" cy="6594094"/>
            </a:xfrm>
            <a:custGeom>
              <a:avLst/>
              <a:gdLst/>
              <a:ahLst/>
              <a:cxnLst/>
              <a:rect l="l" t="t" r="r" b="b"/>
              <a:pathLst>
                <a:path w="5666740" h="6594094">
                  <a:moveTo>
                    <a:pt x="2833370" y="0"/>
                  </a:moveTo>
                  <a:lnTo>
                    <a:pt x="0" y="1648587"/>
                  </a:lnTo>
                  <a:lnTo>
                    <a:pt x="0" y="4945634"/>
                  </a:lnTo>
                  <a:lnTo>
                    <a:pt x="2833370" y="6594094"/>
                  </a:lnTo>
                  <a:lnTo>
                    <a:pt x="5666740" y="4945507"/>
                  </a:lnTo>
                  <a:lnTo>
                    <a:pt x="5666740" y="1648587"/>
                  </a:lnTo>
                  <a:lnTo>
                    <a:pt x="2833370" y="0"/>
                  </a:lnTo>
                  <a:close/>
                </a:path>
              </a:pathLst>
            </a:custGeom>
            <a:blipFill>
              <a:blip r:embed="rId3"/>
              <a:stretch>
                <a:fillRect t="-14372" r="-1" b="-1453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2237794" y="4089011"/>
            <a:ext cx="4250084" cy="4945551"/>
            <a:chOff x="0" y="0"/>
            <a:chExt cx="4250080" cy="494555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248023" cy="4943475"/>
            </a:xfrm>
            <a:custGeom>
              <a:avLst/>
              <a:gdLst/>
              <a:ahLst/>
              <a:cxnLst/>
              <a:rect l="l" t="t" r="r" b="b"/>
              <a:pathLst>
                <a:path w="4248023" h="4943475">
                  <a:moveTo>
                    <a:pt x="2125091" y="22098"/>
                  </a:moveTo>
                  <a:lnTo>
                    <a:pt x="4231005" y="1247394"/>
                  </a:lnTo>
                  <a:lnTo>
                    <a:pt x="4231005" y="3698240"/>
                  </a:lnTo>
                  <a:lnTo>
                    <a:pt x="2125091" y="4923536"/>
                  </a:lnTo>
                  <a:lnTo>
                    <a:pt x="19050" y="3698240"/>
                  </a:lnTo>
                  <a:lnTo>
                    <a:pt x="19050" y="1247394"/>
                  </a:lnTo>
                  <a:lnTo>
                    <a:pt x="2125091" y="22098"/>
                  </a:lnTo>
                  <a:close/>
                  <a:moveTo>
                    <a:pt x="2125091" y="0"/>
                  </a:moveTo>
                  <a:lnTo>
                    <a:pt x="0" y="1236345"/>
                  </a:lnTo>
                  <a:lnTo>
                    <a:pt x="0" y="3709162"/>
                  </a:lnTo>
                  <a:lnTo>
                    <a:pt x="2121408" y="4943475"/>
                  </a:lnTo>
                  <a:lnTo>
                    <a:pt x="2128520" y="4943475"/>
                  </a:lnTo>
                  <a:lnTo>
                    <a:pt x="4248023" y="3710305"/>
                  </a:lnTo>
                  <a:lnTo>
                    <a:pt x="4248023" y="1235202"/>
                  </a:lnTo>
                  <a:lnTo>
                    <a:pt x="2125091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151864" y="1066800"/>
            <a:ext cx="1097280" cy="295656"/>
          </a:xfrm>
          <a:custGeom>
            <a:avLst/>
            <a:gdLst/>
            <a:ahLst/>
            <a:cxnLst/>
            <a:rect l="l" t="t" r="r" b="b"/>
            <a:pathLst>
              <a:path w="1097280" h="295656">
                <a:moveTo>
                  <a:pt x="0" y="0"/>
                </a:moveTo>
                <a:lnTo>
                  <a:pt x="1097280" y="0"/>
                </a:lnTo>
                <a:lnTo>
                  <a:pt x="1097280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059912" y="1066800"/>
            <a:ext cx="923544" cy="295656"/>
          </a:xfrm>
          <a:custGeom>
            <a:avLst/>
            <a:gdLst/>
            <a:ahLst/>
            <a:cxnLst/>
            <a:rect l="l" t="t" r="r" b="b"/>
            <a:pathLst>
              <a:path w="923544" h="295656">
                <a:moveTo>
                  <a:pt x="0" y="0"/>
                </a:moveTo>
                <a:lnTo>
                  <a:pt x="923544" y="0"/>
                </a:lnTo>
                <a:lnTo>
                  <a:pt x="92354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960608" y="1066800"/>
            <a:ext cx="707136" cy="295656"/>
          </a:xfrm>
          <a:custGeom>
            <a:avLst/>
            <a:gdLst/>
            <a:ahLst/>
            <a:cxnLst/>
            <a:rect l="l" t="t" r="r" b="b"/>
            <a:pathLst>
              <a:path w="707136" h="295656">
                <a:moveTo>
                  <a:pt x="0" y="0"/>
                </a:moveTo>
                <a:lnTo>
                  <a:pt x="707136" y="0"/>
                </a:lnTo>
                <a:lnTo>
                  <a:pt x="707136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12438888" y="1066800"/>
            <a:ext cx="816864" cy="295656"/>
          </a:xfrm>
          <a:custGeom>
            <a:avLst/>
            <a:gdLst/>
            <a:ahLst/>
            <a:cxnLst/>
            <a:rect l="l" t="t" r="r" b="b"/>
            <a:pathLst>
              <a:path w="816864" h="295656">
                <a:moveTo>
                  <a:pt x="0" y="0"/>
                </a:moveTo>
                <a:lnTo>
                  <a:pt x="816864" y="0"/>
                </a:lnTo>
                <a:lnTo>
                  <a:pt x="81686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914829" y="3792536"/>
            <a:ext cx="2070097" cy="2408834"/>
            <a:chOff x="0" y="0"/>
            <a:chExt cx="2760129" cy="3211779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2760218" cy="3211830"/>
            </a:xfrm>
            <a:custGeom>
              <a:avLst/>
              <a:gdLst/>
              <a:ahLst/>
              <a:cxnLst/>
              <a:rect l="l" t="t" r="r" b="b"/>
              <a:pathLst>
                <a:path w="2760218" h="3211830">
                  <a:moveTo>
                    <a:pt x="1380109" y="0"/>
                  </a:moveTo>
                  <a:lnTo>
                    <a:pt x="0" y="802894"/>
                  </a:lnTo>
                  <a:lnTo>
                    <a:pt x="0" y="2408809"/>
                  </a:lnTo>
                  <a:lnTo>
                    <a:pt x="1380109" y="3211830"/>
                  </a:lnTo>
                  <a:lnTo>
                    <a:pt x="2760218" y="2408936"/>
                  </a:lnTo>
                  <a:lnTo>
                    <a:pt x="2760218" y="802894"/>
                  </a:lnTo>
                  <a:lnTo>
                    <a:pt x="1380109" y="0"/>
                  </a:lnTo>
                  <a:close/>
                </a:path>
              </a:pathLst>
            </a:custGeom>
            <a:blipFill>
              <a:blip r:embed="rId8"/>
              <a:stretch>
                <a:fillRect l="-25825" r="-81198" b="-3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914829" y="3792536"/>
            <a:ext cx="2070049" cy="2408787"/>
            <a:chOff x="0" y="0"/>
            <a:chExt cx="2070049" cy="2408784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066925" cy="2408809"/>
            </a:xfrm>
            <a:custGeom>
              <a:avLst/>
              <a:gdLst/>
              <a:ahLst/>
              <a:cxnLst/>
              <a:rect l="l" t="t" r="r" b="b"/>
              <a:pathLst>
                <a:path w="2066925" h="2408809">
                  <a:moveTo>
                    <a:pt x="1035050" y="44069"/>
                  </a:moveTo>
                  <a:lnTo>
                    <a:pt x="2032000" y="624078"/>
                  </a:lnTo>
                  <a:lnTo>
                    <a:pt x="2032000" y="1784604"/>
                  </a:lnTo>
                  <a:lnTo>
                    <a:pt x="1035050" y="2364740"/>
                  </a:lnTo>
                  <a:lnTo>
                    <a:pt x="38100" y="1784731"/>
                  </a:lnTo>
                  <a:lnTo>
                    <a:pt x="38100" y="624078"/>
                  </a:lnTo>
                  <a:lnTo>
                    <a:pt x="1035050" y="44069"/>
                  </a:lnTo>
                  <a:close/>
                  <a:moveTo>
                    <a:pt x="1035050" y="0"/>
                  </a:moveTo>
                  <a:lnTo>
                    <a:pt x="0" y="602234"/>
                  </a:lnTo>
                  <a:lnTo>
                    <a:pt x="0" y="1806575"/>
                  </a:lnTo>
                  <a:lnTo>
                    <a:pt x="1035050" y="2408809"/>
                  </a:lnTo>
                  <a:lnTo>
                    <a:pt x="2066925" y="1808480"/>
                  </a:lnTo>
                  <a:lnTo>
                    <a:pt x="2066925" y="600329"/>
                  </a:lnTo>
                  <a:lnTo>
                    <a:pt x="103505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782250" y="9806388"/>
            <a:ext cx="973141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5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718312" y="762000"/>
            <a:ext cx="10116522" cy="2168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1"/>
              </a:lnSpc>
            </a:pPr>
            <a:r>
              <a:rPr lang="en-US" sz="5714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WEEK 1  Network Security Fundamentals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763160" y="3325777"/>
            <a:ext cx="7351457" cy="6290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Major Threats</a:t>
            </a:r>
          </a:p>
          <a:p>
            <a:pPr marL="643221" lvl="1" indent="-321611" algn="l">
              <a:lnSpc>
                <a:spcPts val="4147"/>
              </a:lnSpc>
              <a:buFont typeface="Arial"/>
              <a:buChar char="•"/>
            </a:pPr>
            <a:r>
              <a:rPr lang="en-US" sz="2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Phishing &amp; Social Engineering</a:t>
            </a:r>
          </a:p>
          <a:p>
            <a:pPr marL="643221" lvl="1" indent="-321611" algn="l">
              <a:lnSpc>
                <a:spcPts val="4147"/>
              </a:lnSpc>
              <a:buFont typeface="Arial"/>
              <a:buChar char="•"/>
            </a:pPr>
            <a:r>
              <a:rPr lang="en-US" sz="2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Malware (Ransomware, Viruses, Worms)</a:t>
            </a:r>
          </a:p>
          <a:p>
            <a:pPr marL="643221" lvl="1" indent="-321611" algn="l">
              <a:lnSpc>
                <a:spcPts val="4147"/>
              </a:lnSpc>
              <a:buFont typeface="Arial"/>
              <a:buChar char="•"/>
            </a:pPr>
            <a:r>
              <a:rPr lang="en-US" sz="2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DoS/DDoS Attacks</a:t>
            </a:r>
          </a:p>
          <a:p>
            <a:pPr marL="643221" lvl="1" indent="-321611" algn="l">
              <a:lnSpc>
                <a:spcPts val="4147"/>
              </a:lnSpc>
              <a:buFont typeface="Arial"/>
              <a:buChar char="•"/>
            </a:pPr>
            <a:r>
              <a:rPr lang="en-US" sz="2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Man-in-the-Middle (MitM)</a:t>
            </a:r>
          </a:p>
          <a:p>
            <a:pPr marL="643221" lvl="1" indent="-321611" algn="l">
              <a:lnSpc>
                <a:spcPts val="4147"/>
              </a:lnSpc>
              <a:buFont typeface="Arial"/>
              <a:buChar char="•"/>
            </a:pPr>
            <a:r>
              <a:rPr lang="en-US" sz="2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Insider Threats</a:t>
            </a:r>
          </a:p>
          <a:p>
            <a:pPr algn="l">
              <a:lnSpc>
                <a:spcPts val="4147"/>
              </a:lnSpc>
            </a:pPr>
            <a:r>
              <a:rPr lang="en-US" sz="29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Key Vulnerabilities</a:t>
            </a:r>
          </a:p>
          <a:p>
            <a:pPr marL="643221" lvl="1" indent="-321611" algn="l">
              <a:lnSpc>
                <a:spcPts val="4147"/>
              </a:lnSpc>
              <a:buFont typeface="Arial"/>
              <a:buChar char="•"/>
            </a:pPr>
            <a:r>
              <a:rPr lang="en-US" sz="2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Weak / Reused Passwords</a:t>
            </a:r>
          </a:p>
          <a:p>
            <a:pPr marL="643221" lvl="1" indent="-321611" algn="l">
              <a:lnSpc>
                <a:spcPts val="4147"/>
              </a:lnSpc>
              <a:buFont typeface="Arial"/>
              <a:buChar char="•"/>
            </a:pPr>
            <a:r>
              <a:rPr lang="en-US" sz="2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Unpatched Systems</a:t>
            </a:r>
          </a:p>
          <a:p>
            <a:pPr marL="643221" lvl="1" indent="-321611" algn="l">
              <a:lnSpc>
                <a:spcPts val="4147"/>
              </a:lnSpc>
              <a:buFont typeface="Arial"/>
              <a:buChar char="•"/>
            </a:pPr>
            <a:r>
              <a:rPr lang="en-US" sz="29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Misconfigurations</a:t>
            </a:r>
          </a:p>
          <a:p>
            <a:pPr algn="l">
              <a:lnSpc>
                <a:spcPts val="4147"/>
              </a:lnSpc>
            </a:pPr>
            <a:endParaRPr lang="en-US" sz="2979">
              <a:solidFill>
                <a:srgbClr val="FFFFFF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4151864" y="1066800"/>
            <a:ext cx="1097280" cy="295656"/>
          </a:xfrm>
          <a:custGeom>
            <a:avLst/>
            <a:gdLst/>
            <a:ahLst/>
            <a:cxnLst/>
            <a:rect l="l" t="t" r="r" b="b"/>
            <a:pathLst>
              <a:path w="1097280" h="295656">
                <a:moveTo>
                  <a:pt x="0" y="0"/>
                </a:moveTo>
                <a:lnTo>
                  <a:pt x="1097280" y="0"/>
                </a:lnTo>
                <a:lnTo>
                  <a:pt x="1097280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059912" y="1066800"/>
            <a:ext cx="923544" cy="295656"/>
          </a:xfrm>
          <a:custGeom>
            <a:avLst/>
            <a:gdLst/>
            <a:ahLst/>
            <a:cxnLst/>
            <a:rect l="l" t="t" r="r" b="b"/>
            <a:pathLst>
              <a:path w="923544" h="295656">
                <a:moveTo>
                  <a:pt x="0" y="0"/>
                </a:moveTo>
                <a:lnTo>
                  <a:pt x="923544" y="0"/>
                </a:lnTo>
                <a:lnTo>
                  <a:pt x="92354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960608" y="1066800"/>
            <a:ext cx="707136" cy="295656"/>
          </a:xfrm>
          <a:custGeom>
            <a:avLst/>
            <a:gdLst/>
            <a:ahLst/>
            <a:cxnLst/>
            <a:rect l="l" t="t" r="r" b="b"/>
            <a:pathLst>
              <a:path w="707136" h="295656">
                <a:moveTo>
                  <a:pt x="0" y="0"/>
                </a:moveTo>
                <a:lnTo>
                  <a:pt x="707136" y="0"/>
                </a:lnTo>
                <a:lnTo>
                  <a:pt x="707136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4221480" y="1847088"/>
            <a:ext cx="9726168" cy="1664208"/>
          </a:xfrm>
          <a:custGeom>
            <a:avLst/>
            <a:gdLst/>
            <a:ahLst/>
            <a:cxnLst/>
            <a:rect l="l" t="t" r="r" b="b"/>
            <a:pathLst>
              <a:path w="9726168" h="1664208">
                <a:moveTo>
                  <a:pt x="0" y="0"/>
                </a:moveTo>
                <a:lnTo>
                  <a:pt x="9726168" y="0"/>
                </a:lnTo>
                <a:lnTo>
                  <a:pt x="9726168" y="1664208"/>
                </a:lnTo>
                <a:lnTo>
                  <a:pt x="0" y="166420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915325" y="2823995"/>
            <a:ext cx="14457350" cy="2929004"/>
          </a:xfrm>
          <a:custGeom>
            <a:avLst/>
            <a:gdLst/>
            <a:ahLst/>
            <a:cxnLst/>
            <a:rect l="l" t="t" r="r" b="b"/>
            <a:pathLst>
              <a:path w="14457350" h="2929004">
                <a:moveTo>
                  <a:pt x="0" y="0"/>
                </a:moveTo>
                <a:lnTo>
                  <a:pt x="14457350" y="0"/>
                </a:lnTo>
                <a:lnTo>
                  <a:pt x="14457350" y="2929005"/>
                </a:lnTo>
                <a:lnTo>
                  <a:pt x="0" y="29290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88823" r="-31" b="-88911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779002" y="9806388"/>
            <a:ext cx="979780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6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11060" y="433578"/>
            <a:ext cx="3865880" cy="206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250"/>
              </a:lnSpc>
            </a:pPr>
            <a:r>
              <a:rPr lang="en-US" sz="841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CIA Triad 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936399" y="6545225"/>
            <a:ext cx="12789694" cy="2447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646"/>
              </a:lnSpc>
            </a:pPr>
            <a:r>
              <a:rPr lang="en-US" sz="3413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→ Confidentiality Encryption + Strong/MFA/Biometric Auth </a:t>
            </a:r>
          </a:p>
          <a:p>
            <a:pPr algn="l">
              <a:lnSpc>
                <a:spcPts val="6646"/>
              </a:lnSpc>
            </a:pPr>
            <a:r>
              <a:rPr lang="en-US" sz="3413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→ Integrity Hashing + Backups + Permissions </a:t>
            </a:r>
          </a:p>
          <a:p>
            <a:pPr algn="l">
              <a:lnSpc>
                <a:spcPts val="6646"/>
              </a:lnSpc>
            </a:pPr>
            <a:r>
              <a:rPr lang="en-US" sz="3413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→ Availability Redundancy + Disaster Recovery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14151864" y="1066800"/>
            <a:ext cx="1097280" cy="295656"/>
          </a:xfrm>
          <a:custGeom>
            <a:avLst/>
            <a:gdLst/>
            <a:ahLst/>
            <a:cxnLst/>
            <a:rect l="l" t="t" r="r" b="b"/>
            <a:pathLst>
              <a:path w="1097280" h="295656">
                <a:moveTo>
                  <a:pt x="0" y="0"/>
                </a:moveTo>
                <a:lnTo>
                  <a:pt x="1097280" y="0"/>
                </a:lnTo>
                <a:lnTo>
                  <a:pt x="1097280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16059912" y="1066800"/>
            <a:ext cx="923544" cy="295656"/>
          </a:xfrm>
          <a:custGeom>
            <a:avLst/>
            <a:gdLst/>
            <a:ahLst/>
            <a:cxnLst/>
            <a:rect l="l" t="t" r="r" b="b"/>
            <a:pathLst>
              <a:path w="923544" h="295656">
                <a:moveTo>
                  <a:pt x="0" y="0"/>
                </a:moveTo>
                <a:lnTo>
                  <a:pt x="923544" y="0"/>
                </a:lnTo>
                <a:lnTo>
                  <a:pt x="92354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960608" y="1066800"/>
            <a:ext cx="707136" cy="295656"/>
          </a:xfrm>
          <a:custGeom>
            <a:avLst/>
            <a:gdLst/>
            <a:ahLst/>
            <a:cxnLst/>
            <a:rect l="l" t="t" r="r" b="b"/>
            <a:pathLst>
              <a:path w="707136" h="295656">
                <a:moveTo>
                  <a:pt x="0" y="0"/>
                </a:moveTo>
                <a:lnTo>
                  <a:pt x="707136" y="0"/>
                </a:lnTo>
                <a:lnTo>
                  <a:pt x="707136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3974456" y="3113089"/>
            <a:ext cx="3331950" cy="4060822"/>
          </a:xfrm>
          <a:custGeom>
            <a:avLst/>
            <a:gdLst/>
            <a:ahLst/>
            <a:cxnLst/>
            <a:rect l="l" t="t" r="r" b="b"/>
            <a:pathLst>
              <a:path w="3331950" h="4060822">
                <a:moveTo>
                  <a:pt x="0" y="0"/>
                </a:moveTo>
                <a:lnTo>
                  <a:pt x="3331950" y="0"/>
                </a:lnTo>
                <a:lnTo>
                  <a:pt x="3331950" y="4060822"/>
                </a:lnTo>
                <a:lnTo>
                  <a:pt x="0" y="40608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1481" r="-4133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3974589" y="3116289"/>
            <a:ext cx="3331816" cy="4057621"/>
          </a:xfrm>
          <a:custGeom>
            <a:avLst/>
            <a:gdLst/>
            <a:ahLst/>
            <a:cxnLst/>
            <a:rect l="l" t="t" r="r" b="b"/>
            <a:pathLst>
              <a:path w="3331816" h="4057621">
                <a:moveTo>
                  <a:pt x="0" y="0"/>
                </a:moveTo>
                <a:lnTo>
                  <a:pt x="3331817" y="0"/>
                </a:lnTo>
                <a:lnTo>
                  <a:pt x="3331817" y="4057622"/>
                </a:lnTo>
                <a:lnTo>
                  <a:pt x="0" y="405762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790851" y="9806388"/>
            <a:ext cx="955510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80655" y="567620"/>
            <a:ext cx="12545854" cy="9602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47"/>
              </a:lnSpc>
            </a:pPr>
            <a:r>
              <a:rPr lang="en-US" sz="6111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Countermeasures &amp; WannaCry Lesson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2199056"/>
            <a:ext cx="10551001" cy="72212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6425"/>
              </a:lnSpc>
              <a:spcBef>
                <a:spcPct val="0"/>
              </a:spcBef>
            </a:pPr>
            <a:r>
              <a:rPr lang="en-US" sz="3300" b="1" u="none" strike="noStrik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Essential Protections</a:t>
            </a:r>
          </a:p>
          <a:p>
            <a:pPr marL="712470" lvl="1" indent="-356235" algn="l">
              <a:lnSpc>
                <a:spcPts val="6425"/>
              </a:lnSpc>
              <a:buFont typeface="Arial"/>
              <a:buChar char="•"/>
            </a:pPr>
            <a:r>
              <a:rPr lang="en-US" sz="3300" u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User Training </a:t>
            </a:r>
          </a:p>
          <a:p>
            <a:pPr marL="712470" lvl="1" indent="-356235" algn="l">
              <a:lnSpc>
                <a:spcPts val="6425"/>
              </a:lnSpc>
              <a:buFont typeface="Arial"/>
              <a:buChar char="•"/>
            </a:pPr>
            <a:r>
              <a:rPr lang="en-US" sz="3300" u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Regular Patching + Antivirus</a:t>
            </a:r>
          </a:p>
          <a:p>
            <a:pPr marL="712470" lvl="1" indent="-356235" algn="l">
              <a:lnSpc>
                <a:spcPts val="6425"/>
              </a:lnSpc>
              <a:buFont typeface="Arial"/>
              <a:buChar char="•"/>
            </a:pPr>
            <a:r>
              <a:rPr lang="en-US" sz="3300" u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HTTPS + VPN (vs MitM)</a:t>
            </a:r>
          </a:p>
          <a:p>
            <a:pPr marL="712470" lvl="1" indent="-356235" algn="l">
              <a:lnSpc>
                <a:spcPts val="6425"/>
              </a:lnSpc>
              <a:buFont typeface="Arial"/>
              <a:buChar char="•"/>
            </a:pPr>
            <a:r>
              <a:rPr lang="en-US" sz="3300" u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DDoS Protection</a:t>
            </a:r>
          </a:p>
          <a:p>
            <a:pPr marL="712470" lvl="1" indent="-356235" algn="l">
              <a:lnSpc>
                <a:spcPts val="6425"/>
              </a:lnSpc>
              <a:buFont typeface="Arial"/>
              <a:buChar char="•"/>
            </a:pPr>
            <a:r>
              <a:rPr lang="en-US" sz="3300" u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Least Privilege + Monitoring</a:t>
            </a:r>
          </a:p>
          <a:p>
            <a:pPr marL="0" lvl="0" indent="0" algn="l">
              <a:lnSpc>
                <a:spcPts val="6425"/>
              </a:lnSpc>
              <a:spcBef>
                <a:spcPct val="0"/>
              </a:spcBef>
            </a:pPr>
            <a:r>
              <a:rPr lang="en-US" sz="3300" b="1" u="none" strike="noStrik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WannaCry 2017</a:t>
            </a:r>
          </a:p>
          <a:p>
            <a:pPr marL="0" lvl="0" indent="0" algn="l">
              <a:lnSpc>
                <a:spcPts val="6425"/>
              </a:lnSpc>
              <a:spcBef>
                <a:spcPct val="0"/>
              </a:spcBef>
            </a:pPr>
            <a:r>
              <a:rPr lang="en-US" sz="3300" u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→ Exploited unpatched Windows (EternalBlue)</a:t>
            </a:r>
          </a:p>
          <a:p>
            <a:pPr marL="0" lvl="0" indent="0" algn="l">
              <a:lnSpc>
                <a:spcPts val="6425"/>
              </a:lnSpc>
              <a:spcBef>
                <a:spcPct val="0"/>
              </a:spcBef>
            </a:pPr>
            <a:r>
              <a:rPr lang="en-US" sz="3300" u="none" strike="noStrike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Key Lesson: Patch fast + Layered defense + Awareness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3129755" y="5609758"/>
            <a:ext cx="3733895" cy="4344895"/>
            <a:chOff x="0" y="0"/>
            <a:chExt cx="4978527" cy="5793194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978527" cy="5793232"/>
            </a:xfrm>
            <a:custGeom>
              <a:avLst/>
              <a:gdLst/>
              <a:ahLst/>
              <a:cxnLst/>
              <a:rect l="l" t="t" r="r" b="b"/>
              <a:pathLst>
                <a:path w="4978527" h="5793232">
                  <a:moveTo>
                    <a:pt x="2489327" y="0"/>
                  </a:moveTo>
                  <a:lnTo>
                    <a:pt x="0" y="1448308"/>
                  </a:lnTo>
                  <a:lnTo>
                    <a:pt x="0" y="4344924"/>
                  </a:lnTo>
                  <a:lnTo>
                    <a:pt x="2489327" y="5793232"/>
                  </a:lnTo>
                  <a:lnTo>
                    <a:pt x="4978527" y="4344924"/>
                  </a:lnTo>
                  <a:lnTo>
                    <a:pt x="4978527" y="1448308"/>
                  </a:lnTo>
                  <a:lnTo>
                    <a:pt x="2489327" y="0"/>
                  </a:lnTo>
                  <a:close/>
                </a:path>
              </a:pathLst>
            </a:custGeom>
            <a:blipFill>
              <a:blip r:embed="rId3"/>
              <a:stretch>
                <a:fillRect l="-39780" r="-81703" b="-3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3129755" y="5609815"/>
            <a:ext cx="3733800" cy="4344781"/>
            <a:chOff x="0" y="0"/>
            <a:chExt cx="3733800" cy="4344784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733800" cy="4343400"/>
            </a:xfrm>
            <a:custGeom>
              <a:avLst/>
              <a:gdLst/>
              <a:ahLst/>
              <a:cxnLst/>
              <a:rect l="l" t="t" r="r" b="b"/>
              <a:pathLst>
                <a:path w="3733800" h="4343400">
                  <a:moveTo>
                    <a:pt x="1866900" y="44069"/>
                  </a:moveTo>
                  <a:lnTo>
                    <a:pt x="3695700" y="1108075"/>
                  </a:lnTo>
                  <a:lnTo>
                    <a:pt x="3695700" y="3236595"/>
                  </a:lnTo>
                  <a:lnTo>
                    <a:pt x="1866900" y="4300728"/>
                  </a:lnTo>
                  <a:lnTo>
                    <a:pt x="38100" y="3236722"/>
                  </a:lnTo>
                  <a:lnTo>
                    <a:pt x="38100" y="1108075"/>
                  </a:lnTo>
                  <a:lnTo>
                    <a:pt x="1866900" y="44069"/>
                  </a:lnTo>
                  <a:close/>
                  <a:moveTo>
                    <a:pt x="1866900" y="0"/>
                  </a:moveTo>
                  <a:lnTo>
                    <a:pt x="0" y="1086231"/>
                  </a:lnTo>
                  <a:lnTo>
                    <a:pt x="0" y="3258566"/>
                  </a:lnTo>
                  <a:lnTo>
                    <a:pt x="1864487" y="4343400"/>
                  </a:lnTo>
                  <a:lnTo>
                    <a:pt x="1869440" y="4343400"/>
                  </a:lnTo>
                  <a:lnTo>
                    <a:pt x="3733800" y="3258566"/>
                  </a:lnTo>
                  <a:lnTo>
                    <a:pt x="3733800" y="1086231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14151864" y="1066800"/>
            <a:ext cx="1097280" cy="295656"/>
          </a:xfrm>
          <a:custGeom>
            <a:avLst/>
            <a:gdLst/>
            <a:ahLst/>
            <a:cxnLst/>
            <a:rect l="l" t="t" r="r" b="b"/>
            <a:pathLst>
              <a:path w="1097280" h="295656">
                <a:moveTo>
                  <a:pt x="0" y="0"/>
                </a:moveTo>
                <a:lnTo>
                  <a:pt x="1097280" y="0"/>
                </a:lnTo>
                <a:lnTo>
                  <a:pt x="1097280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6059912" y="1066800"/>
            <a:ext cx="923544" cy="295656"/>
          </a:xfrm>
          <a:custGeom>
            <a:avLst/>
            <a:gdLst/>
            <a:ahLst/>
            <a:cxnLst/>
            <a:rect l="l" t="t" r="r" b="b"/>
            <a:pathLst>
              <a:path w="923544" h="295656">
                <a:moveTo>
                  <a:pt x="0" y="0"/>
                </a:moveTo>
                <a:lnTo>
                  <a:pt x="923544" y="0"/>
                </a:lnTo>
                <a:lnTo>
                  <a:pt x="92354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0960608" y="1066800"/>
            <a:ext cx="707136" cy="295656"/>
          </a:xfrm>
          <a:custGeom>
            <a:avLst/>
            <a:gdLst/>
            <a:ahLst/>
            <a:cxnLst/>
            <a:rect l="l" t="t" r="r" b="b"/>
            <a:pathLst>
              <a:path w="707136" h="295656">
                <a:moveTo>
                  <a:pt x="0" y="0"/>
                </a:moveTo>
                <a:lnTo>
                  <a:pt x="707136" y="0"/>
                </a:lnTo>
                <a:lnTo>
                  <a:pt x="707136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16779278" y="9806388"/>
            <a:ext cx="979208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8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64726" y="1300086"/>
            <a:ext cx="14634724" cy="2215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23"/>
              </a:lnSpc>
            </a:pPr>
            <a:r>
              <a:rPr lang="en-US" sz="5714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WEEK 2  FortiGate Deployment &amp; Initial Configuration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80655" y="3869258"/>
            <a:ext cx="12499991" cy="4745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49959" lvl="1" indent="-474979" algn="just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Nework Topology used </a:t>
            </a:r>
          </a:p>
          <a:p>
            <a:pPr marL="949959" lvl="1" indent="-474979" algn="just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FortiGate dashboard overview </a:t>
            </a:r>
          </a:p>
          <a:p>
            <a:pPr marL="949959" lvl="1" indent="-474979" algn="just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Static &amp; Dynamic interfaces</a:t>
            </a:r>
          </a:p>
          <a:p>
            <a:pPr marL="949959" lvl="1" indent="-474979" algn="just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Routing Table Review</a:t>
            </a:r>
          </a:p>
          <a:p>
            <a:pPr marL="949959" lvl="1" indent="-474979" algn="just">
              <a:lnSpc>
                <a:spcPts val="6159"/>
              </a:lnSpc>
              <a:buFont typeface="Arial"/>
              <a:buChar char="•"/>
            </a:pPr>
            <a:r>
              <a:rPr lang="en-US" sz="4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Initial firewall policies before applying</a:t>
            </a:r>
          </a:p>
          <a:p>
            <a:pPr algn="just">
              <a:lnSpc>
                <a:spcPts val="6159"/>
              </a:lnSpc>
            </a:pPr>
            <a:r>
              <a:rPr lang="en-US" sz="4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any advance filtering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5861304" y="1240536"/>
            <a:ext cx="5529072" cy="2075688"/>
          </a:xfrm>
          <a:custGeom>
            <a:avLst/>
            <a:gdLst/>
            <a:ahLst/>
            <a:cxnLst/>
            <a:rect l="l" t="t" r="r" b="b"/>
            <a:pathLst>
              <a:path w="5529072" h="2075688">
                <a:moveTo>
                  <a:pt x="0" y="0"/>
                </a:moveTo>
                <a:lnTo>
                  <a:pt x="5529072" y="0"/>
                </a:lnTo>
                <a:lnTo>
                  <a:pt x="5529072" y="2075688"/>
                </a:lnTo>
                <a:lnTo>
                  <a:pt x="0" y="2075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5" r="-55" b="-14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151864" y="1066800"/>
            <a:ext cx="1097280" cy="295656"/>
          </a:xfrm>
          <a:custGeom>
            <a:avLst/>
            <a:gdLst/>
            <a:ahLst/>
            <a:cxnLst/>
            <a:rect l="l" t="t" r="r" b="b"/>
            <a:pathLst>
              <a:path w="1097280" h="295656">
                <a:moveTo>
                  <a:pt x="0" y="0"/>
                </a:moveTo>
                <a:lnTo>
                  <a:pt x="1097280" y="0"/>
                </a:lnTo>
                <a:lnTo>
                  <a:pt x="1097280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6059912" y="1066800"/>
            <a:ext cx="923544" cy="295656"/>
          </a:xfrm>
          <a:custGeom>
            <a:avLst/>
            <a:gdLst/>
            <a:ahLst/>
            <a:cxnLst/>
            <a:rect l="l" t="t" r="r" b="b"/>
            <a:pathLst>
              <a:path w="923544" h="295656">
                <a:moveTo>
                  <a:pt x="0" y="0"/>
                </a:moveTo>
                <a:lnTo>
                  <a:pt x="923544" y="0"/>
                </a:lnTo>
                <a:lnTo>
                  <a:pt x="92354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0960608" y="1066800"/>
            <a:ext cx="707136" cy="295656"/>
          </a:xfrm>
          <a:custGeom>
            <a:avLst/>
            <a:gdLst/>
            <a:ahLst/>
            <a:cxnLst/>
            <a:rect l="l" t="t" r="r" b="b"/>
            <a:pathLst>
              <a:path w="707136" h="295656">
                <a:moveTo>
                  <a:pt x="0" y="0"/>
                </a:moveTo>
                <a:lnTo>
                  <a:pt x="707136" y="0"/>
                </a:lnTo>
                <a:lnTo>
                  <a:pt x="707136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2438888" y="1066800"/>
            <a:ext cx="816864" cy="295656"/>
          </a:xfrm>
          <a:custGeom>
            <a:avLst/>
            <a:gdLst/>
            <a:ahLst/>
            <a:cxnLst/>
            <a:rect l="l" t="t" r="r" b="b"/>
            <a:pathLst>
              <a:path w="816864" h="295656">
                <a:moveTo>
                  <a:pt x="0" y="0"/>
                </a:moveTo>
                <a:lnTo>
                  <a:pt x="816864" y="0"/>
                </a:lnTo>
                <a:lnTo>
                  <a:pt x="81686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5" name="Group 15"/>
          <p:cNvGrpSpPr>
            <a:grpSpLocks noChangeAspect="1"/>
          </p:cNvGrpSpPr>
          <p:nvPr/>
        </p:nvGrpSpPr>
        <p:grpSpPr>
          <a:xfrm>
            <a:off x="9089098" y="4870190"/>
            <a:ext cx="104775" cy="104775"/>
            <a:chOff x="0" y="0"/>
            <a:chExt cx="104775" cy="104775"/>
          </a:xfrm>
        </p:grpSpPr>
        <p:sp>
          <p:nvSpPr>
            <p:cNvPr id="16" name="Freeform 16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9089098" y="5936990"/>
            <a:ext cx="104775" cy="104775"/>
            <a:chOff x="0" y="0"/>
            <a:chExt cx="104775" cy="104775"/>
          </a:xfrm>
        </p:grpSpPr>
        <p:sp>
          <p:nvSpPr>
            <p:cNvPr id="18" name="Freeform 18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>
            <a:grpSpLocks noChangeAspect="1"/>
          </p:cNvGrpSpPr>
          <p:nvPr/>
        </p:nvGrpSpPr>
        <p:grpSpPr>
          <a:xfrm>
            <a:off x="9089098" y="7003790"/>
            <a:ext cx="104775" cy="104775"/>
            <a:chOff x="0" y="0"/>
            <a:chExt cx="104775" cy="104775"/>
          </a:xfrm>
        </p:grpSpPr>
        <p:sp>
          <p:nvSpPr>
            <p:cNvPr id="20" name="Freeform 20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/>
          <p:cNvSpPr/>
          <p:nvPr/>
        </p:nvSpPr>
        <p:spPr>
          <a:xfrm>
            <a:off x="2904587" y="2278380"/>
            <a:ext cx="12578572" cy="5864759"/>
          </a:xfrm>
          <a:custGeom>
            <a:avLst/>
            <a:gdLst/>
            <a:ahLst/>
            <a:cxnLst/>
            <a:rect l="l" t="t" r="r" b="b"/>
            <a:pathLst>
              <a:path w="12578572" h="5864759">
                <a:moveTo>
                  <a:pt x="0" y="0"/>
                </a:moveTo>
                <a:lnTo>
                  <a:pt x="12578572" y="0"/>
                </a:lnTo>
                <a:lnTo>
                  <a:pt x="12578572" y="5864759"/>
                </a:lnTo>
                <a:lnTo>
                  <a:pt x="0" y="586475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4624702" y="819150"/>
            <a:ext cx="9138342" cy="1216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714"/>
              </a:lnSpc>
            </a:pPr>
            <a:r>
              <a:rPr lang="en-US" sz="6622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Network Topology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6779002" y="9806388"/>
            <a:ext cx="979780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9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2914883" y="8672552"/>
            <a:ext cx="12138479" cy="1133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4"/>
              </a:lnSpc>
            </a:pPr>
            <a:r>
              <a:rPr lang="en-US" sz="22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Shows the overall network design used in the FortiGate setup</a:t>
            </a:r>
          </a:p>
          <a:p>
            <a:pPr algn="l">
              <a:lnSpc>
                <a:spcPts val="3074"/>
              </a:lnSpc>
            </a:pPr>
            <a:r>
              <a:rPr lang="en-US" sz="224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( WAN, LAN segments, internal interfaces, and how devices are interconnected. It visualizes the logical flow of traffic through the firewall.)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552337"/>
            <a:ext cx="2316918" cy="801214"/>
            <a:chOff x="0" y="0"/>
            <a:chExt cx="2316912" cy="801218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671195"/>
            </a:xfrm>
            <a:custGeom>
              <a:avLst/>
              <a:gdLst/>
              <a:ahLst/>
              <a:cxnLst/>
              <a:rect l="l" t="t" r="r" b="b"/>
              <a:pathLst>
                <a:path w="2189861" h="671195">
                  <a:moveTo>
                    <a:pt x="0" y="0"/>
                  </a:moveTo>
                  <a:lnTo>
                    <a:pt x="0" y="671195"/>
                  </a:lnTo>
                  <a:lnTo>
                    <a:pt x="2189861" y="671195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169672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4712208" y="1728216"/>
            <a:ext cx="8638032" cy="1944624"/>
          </a:xfrm>
          <a:custGeom>
            <a:avLst/>
            <a:gdLst/>
            <a:ahLst/>
            <a:cxnLst/>
            <a:rect l="l" t="t" r="r" b="b"/>
            <a:pathLst>
              <a:path w="8638032" h="1944624">
                <a:moveTo>
                  <a:pt x="0" y="0"/>
                </a:moveTo>
                <a:lnTo>
                  <a:pt x="8638032" y="0"/>
                </a:lnTo>
                <a:lnTo>
                  <a:pt x="8638032" y="1944624"/>
                </a:lnTo>
                <a:lnTo>
                  <a:pt x="0" y="19446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914829" y="802110"/>
            <a:ext cx="580292" cy="580292"/>
            <a:chOff x="0" y="0"/>
            <a:chExt cx="580288" cy="580288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80263" cy="580263"/>
            </a:xfrm>
            <a:custGeom>
              <a:avLst/>
              <a:gdLst/>
              <a:ahLst/>
              <a:cxnLst/>
              <a:rect l="l" t="t" r="r" b="b"/>
              <a:pathLst>
                <a:path w="580263" h="580263">
                  <a:moveTo>
                    <a:pt x="0" y="580263"/>
                  </a:moveTo>
                  <a:lnTo>
                    <a:pt x="580263" y="580263"/>
                  </a:lnTo>
                  <a:lnTo>
                    <a:pt x="5802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/>
          <p:cNvSpPr/>
          <p:nvPr/>
        </p:nvSpPr>
        <p:spPr>
          <a:xfrm>
            <a:off x="7101904" y="2700528"/>
            <a:ext cx="10737478" cy="6348534"/>
          </a:xfrm>
          <a:custGeom>
            <a:avLst/>
            <a:gdLst/>
            <a:ahLst/>
            <a:cxnLst/>
            <a:rect l="l" t="t" r="r" b="b"/>
            <a:pathLst>
              <a:path w="10737478" h="6348534">
                <a:moveTo>
                  <a:pt x="0" y="0"/>
                </a:moveTo>
                <a:lnTo>
                  <a:pt x="10737478" y="0"/>
                </a:lnTo>
                <a:lnTo>
                  <a:pt x="10737478" y="6348534"/>
                </a:lnTo>
                <a:lnTo>
                  <a:pt x="0" y="63485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3534432" y="1668151"/>
            <a:ext cx="11219136" cy="6388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7"/>
              </a:lnSpc>
            </a:pPr>
            <a:r>
              <a:rPr lang="en-US" sz="6114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FortiGate Dashboard Overview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6701516" y="9806388"/>
            <a:ext cx="1137866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4932" y="3844290"/>
            <a:ext cx="6452235" cy="3688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4856" lvl="1" indent="-332428" algn="l">
              <a:lnSpc>
                <a:spcPts val="4803"/>
              </a:lnSpc>
              <a:buFont typeface="Arial"/>
              <a:buChar char="•"/>
            </a:pPr>
            <a:r>
              <a:rPr lang="en-US" sz="3079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Shows system status</a:t>
            </a:r>
          </a:p>
          <a:p>
            <a:pPr marL="664856" lvl="1" indent="-332428" algn="l">
              <a:lnSpc>
                <a:spcPts val="4803"/>
              </a:lnSpc>
              <a:buFont typeface="Arial"/>
              <a:buChar char="•"/>
            </a:pPr>
            <a:r>
              <a:rPr lang="en-US" sz="3079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Displays resource usage</a:t>
            </a:r>
          </a:p>
          <a:p>
            <a:pPr algn="l">
              <a:lnSpc>
                <a:spcPts val="4803"/>
              </a:lnSpc>
            </a:pPr>
            <a:r>
              <a:rPr lang="en-US" sz="3079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     (CPU, RAM, sessions)</a:t>
            </a:r>
          </a:p>
          <a:p>
            <a:pPr marL="664856" lvl="1" indent="-332428" algn="l">
              <a:lnSpc>
                <a:spcPts val="4803"/>
              </a:lnSpc>
              <a:buFont typeface="Arial"/>
              <a:buChar char="•"/>
            </a:pPr>
            <a:r>
              <a:rPr lang="en-US" sz="3079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Shows interface connectivity status</a:t>
            </a:r>
          </a:p>
          <a:p>
            <a:pPr marL="664856" lvl="1" indent="-332428" algn="l">
              <a:lnSpc>
                <a:spcPts val="4803"/>
              </a:lnSpc>
              <a:buFont typeface="Arial"/>
              <a:buChar char="•"/>
            </a:pPr>
            <a:r>
              <a:rPr lang="en-US" sz="3079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Provides real-time traffic visibility</a:t>
            </a:r>
          </a:p>
          <a:p>
            <a:pPr marL="664856" lvl="1" indent="-332428" algn="l">
              <a:lnSpc>
                <a:spcPts val="4803"/>
              </a:lnSpc>
              <a:buFont typeface="Arial"/>
              <a:buChar char="•"/>
            </a:pPr>
            <a:r>
              <a:rPr lang="en-US" sz="3079">
                <a:solidFill>
                  <a:srgbClr val="F4F4F4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Alerts and security 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1814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4151864" y="1066800"/>
            <a:ext cx="1097280" cy="295656"/>
          </a:xfrm>
          <a:custGeom>
            <a:avLst/>
            <a:gdLst/>
            <a:ahLst/>
            <a:cxnLst/>
            <a:rect l="l" t="t" r="r" b="b"/>
            <a:pathLst>
              <a:path w="1097280" h="295656">
                <a:moveTo>
                  <a:pt x="0" y="0"/>
                </a:moveTo>
                <a:lnTo>
                  <a:pt x="1097280" y="0"/>
                </a:lnTo>
                <a:lnTo>
                  <a:pt x="1097280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059912" y="1066800"/>
            <a:ext cx="923544" cy="295656"/>
          </a:xfrm>
          <a:custGeom>
            <a:avLst/>
            <a:gdLst/>
            <a:ahLst/>
            <a:cxnLst/>
            <a:rect l="l" t="t" r="r" b="b"/>
            <a:pathLst>
              <a:path w="923544" h="295656">
                <a:moveTo>
                  <a:pt x="0" y="0"/>
                </a:moveTo>
                <a:lnTo>
                  <a:pt x="923544" y="0"/>
                </a:lnTo>
                <a:lnTo>
                  <a:pt x="92354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960608" y="1066800"/>
            <a:ext cx="707136" cy="295656"/>
          </a:xfrm>
          <a:custGeom>
            <a:avLst/>
            <a:gdLst/>
            <a:ahLst/>
            <a:cxnLst/>
            <a:rect l="l" t="t" r="r" b="b"/>
            <a:pathLst>
              <a:path w="707136" h="295656">
                <a:moveTo>
                  <a:pt x="0" y="0"/>
                </a:moveTo>
                <a:lnTo>
                  <a:pt x="707136" y="0"/>
                </a:lnTo>
                <a:lnTo>
                  <a:pt x="707136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438888" y="1066800"/>
            <a:ext cx="816864" cy="295656"/>
          </a:xfrm>
          <a:custGeom>
            <a:avLst/>
            <a:gdLst/>
            <a:ahLst/>
            <a:cxnLst/>
            <a:rect l="l" t="t" r="r" b="b"/>
            <a:pathLst>
              <a:path w="816864" h="295656">
                <a:moveTo>
                  <a:pt x="0" y="0"/>
                </a:moveTo>
                <a:lnTo>
                  <a:pt x="816864" y="0"/>
                </a:lnTo>
                <a:lnTo>
                  <a:pt x="81686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4379976" y="1569720"/>
            <a:ext cx="8638032" cy="1179576"/>
          </a:xfrm>
          <a:custGeom>
            <a:avLst/>
            <a:gdLst/>
            <a:ahLst/>
            <a:cxnLst/>
            <a:rect l="l" t="t" r="r" b="b"/>
            <a:pathLst>
              <a:path w="8638032" h="1179576">
                <a:moveTo>
                  <a:pt x="0" y="0"/>
                </a:moveTo>
                <a:lnTo>
                  <a:pt x="8638032" y="0"/>
                </a:lnTo>
                <a:lnTo>
                  <a:pt x="8638032" y="1179576"/>
                </a:lnTo>
                <a:lnTo>
                  <a:pt x="0" y="1179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6780945" y="9806388"/>
            <a:ext cx="1089136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576743" y="1427102"/>
            <a:ext cx="9331281" cy="11405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9374"/>
              </a:lnSpc>
            </a:pPr>
            <a:r>
              <a:rPr lang="en-US" sz="6514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Static Network Interfaces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14829" y="2944478"/>
            <a:ext cx="16592550" cy="5885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6400" lvl="1" indent="-343200" algn="l">
              <a:lnSpc>
                <a:spcPts val="7875"/>
              </a:lnSpc>
              <a:buFont typeface="Arial"/>
              <a:buChar char="•"/>
            </a:pPr>
            <a:r>
              <a:rPr lang="en-US" sz="31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Configured internal LAN interfaces manually</a:t>
            </a:r>
          </a:p>
          <a:p>
            <a:pPr marL="686400" lvl="1" indent="-343200" algn="l">
              <a:lnSpc>
                <a:spcPts val="7875"/>
              </a:lnSpc>
              <a:buFont typeface="Arial"/>
              <a:buChar char="•"/>
            </a:pPr>
            <a:r>
              <a:rPr lang="en-US" sz="31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Assigned IP addresses required for internal network communication</a:t>
            </a:r>
          </a:p>
          <a:p>
            <a:pPr marL="686400" lvl="1" indent="-343200" algn="l">
              <a:lnSpc>
                <a:spcPts val="7875"/>
              </a:lnSpc>
              <a:buFont typeface="Arial"/>
              <a:buChar char="•"/>
            </a:pPr>
            <a:r>
              <a:rPr lang="en-US" sz="31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Set administrative access (HTTP/HTTPS/SSH) for management</a:t>
            </a:r>
          </a:p>
          <a:p>
            <a:pPr marL="686400" lvl="1" indent="-343200" algn="l">
              <a:lnSpc>
                <a:spcPts val="7875"/>
              </a:lnSpc>
              <a:buFont typeface="Arial"/>
              <a:buChar char="•"/>
            </a:pPr>
            <a:r>
              <a:rPr lang="en-US" sz="31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Ensured links were active so the firewall could communicate with internal devices</a:t>
            </a:r>
          </a:p>
          <a:p>
            <a:pPr marL="686400" lvl="1" indent="-343200" algn="l">
              <a:lnSpc>
                <a:spcPts val="7875"/>
              </a:lnSpc>
              <a:buFont typeface="Arial"/>
              <a:buChar char="•"/>
            </a:pPr>
            <a:r>
              <a:rPr lang="en-US" sz="3179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This step created the foundation for routing and future policies</a:t>
            </a:r>
          </a:p>
          <a:p>
            <a:pPr algn="l">
              <a:lnSpc>
                <a:spcPts val="7875"/>
              </a:lnSpc>
            </a:pPr>
            <a:endParaRPr lang="en-US" sz="3179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4151864" y="1066800"/>
            <a:ext cx="1097280" cy="295656"/>
          </a:xfrm>
          <a:custGeom>
            <a:avLst/>
            <a:gdLst/>
            <a:ahLst/>
            <a:cxnLst/>
            <a:rect l="l" t="t" r="r" b="b"/>
            <a:pathLst>
              <a:path w="1097280" h="295656">
                <a:moveTo>
                  <a:pt x="0" y="0"/>
                </a:moveTo>
                <a:lnTo>
                  <a:pt x="1097280" y="0"/>
                </a:lnTo>
                <a:lnTo>
                  <a:pt x="1097280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6059912" y="1066800"/>
            <a:ext cx="923544" cy="295656"/>
          </a:xfrm>
          <a:custGeom>
            <a:avLst/>
            <a:gdLst/>
            <a:ahLst/>
            <a:cxnLst/>
            <a:rect l="l" t="t" r="r" b="b"/>
            <a:pathLst>
              <a:path w="923544" h="295656">
                <a:moveTo>
                  <a:pt x="0" y="0"/>
                </a:moveTo>
                <a:lnTo>
                  <a:pt x="923544" y="0"/>
                </a:lnTo>
                <a:lnTo>
                  <a:pt x="92354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0960608" y="1066800"/>
            <a:ext cx="707136" cy="295656"/>
          </a:xfrm>
          <a:custGeom>
            <a:avLst/>
            <a:gdLst/>
            <a:ahLst/>
            <a:cxnLst/>
            <a:rect l="l" t="t" r="r" b="b"/>
            <a:pathLst>
              <a:path w="707136" h="295656">
                <a:moveTo>
                  <a:pt x="0" y="0"/>
                </a:moveTo>
                <a:lnTo>
                  <a:pt x="707136" y="0"/>
                </a:lnTo>
                <a:lnTo>
                  <a:pt x="707136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2438888" y="1066800"/>
            <a:ext cx="816864" cy="295656"/>
          </a:xfrm>
          <a:custGeom>
            <a:avLst/>
            <a:gdLst/>
            <a:ahLst/>
            <a:cxnLst/>
            <a:rect l="l" t="t" r="r" b="b"/>
            <a:pathLst>
              <a:path w="816864" h="295656">
                <a:moveTo>
                  <a:pt x="0" y="0"/>
                </a:moveTo>
                <a:lnTo>
                  <a:pt x="816864" y="0"/>
                </a:lnTo>
                <a:lnTo>
                  <a:pt x="816864" y="295656"/>
                </a:lnTo>
                <a:lnTo>
                  <a:pt x="0" y="2956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4379976" y="1569720"/>
            <a:ext cx="8638032" cy="1179576"/>
          </a:xfrm>
          <a:custGeom>
            <a:avLst/>
            <a:gdLst/>
            <a:ahLst/>
            <a:cxnLst/>
            <a:rect l="l" t="t" r="r" b="b"/>
            <a:pathLst>
              <a:path w="8638032" h="1179576">
                <a:moveTo>
                  <a:pt x="0" y="0"/>
                </a:moveTo>
                <a:lnTo>
                  <a:pt x="8638032" y="0"/>
                </a:lnTo>
                <a:lnTo>
                  <a:pt x="8638032" y="1179576"/>
                </a:lnTo>
                <a:lnTo>
                  <a:pt x="0" y="11795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" name="Freeform 15"/>
          <p:cNvSpPr/>
          <p:nvPr/>
        </p:nvSpPr>
        <p:spPr>
          <a:xfrm>
            <a:off x="291750" y="3466514"/>
            <a:ext cx="17704499" cy="5178566"/>
          </a:xfrm>
          <a:custGeom>
            <a:avLst/>
            <a:gdLst/>
            <a:ahLst/>
            <a:cxnLst/>
            <a:rect l="l" t="t" r="r" b="b"/>
            <a:pathLst>
              <a:path w="17704499" h="5178566">
                <a:moveTo>
                  <a:pt x="0" y="0"/>
                </a:moveTo>
                <a:lnTo>
                  <a:pt x="17704500" y="0"/>
                </a:lnTo>
                <a:lnTo>
                  <a:pt x="17704500" y="5178566"/>
                </a:lnTo>
                <a:lnTo>
                  <a:pt x="0" y="5178566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6780945" y="9806388"/>
            <a:ext cx="1151096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12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576743" y="1427102"/>
            <a:ext cx="8903335" cy="125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74"/>
              </a:lnSpc>
            </a:pPr>
            <a:r>
              <a:rPr lang="en-US" sz="6514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Static Network Interfaces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14829" y="802110"/>
            <a:ext cx="580292" cy="580292"/>
            <a:chOff x="0" y="0"/>
            <a:chExt cx="580288" cy="580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0263" cy="580263"/>
            </a:xfrm>
            <a:custGeom>
              <a:avLst/>
              <a:gdLst/>
              <a:ahLst/>
              <a:cxnLst/>
              <a:rect l="l" t="t" r="r" b="b"/>
              <a:pathLst>
                <a:path w="580263" h="580263">
                  <a:moveTo>
                    <a:pt x="0" y="580263"/>
                  </a:moveTo>
                  <a:lnTo>
                    <a:pt x="580263" y="580263"/>
                  </a:lnTo>
                  <a:lnTo>
                    <a:pt x="5802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16739473" y="9806388"/>
            <a:ext cx="1143159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63849" y="915676"/>
            <a:ext cx="8760301" cy="1362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6"/>
              </a:lnSpc>
            </a:pPr>
            <a:r>
              <a:rPr lang="en-US" sz="5922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Dynamic Network Interface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80655" y="2897226"/>
            <a:ext cx="16231297" cy="59467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238" lvl="1" indent="-380119" algn="l">
              <a:lnSpc>
                <a:spcPts val="7950"/>
              </a:lnSpc>
              <a:buFont typeface="Arial"/>
              <a:buChar char="•"/>
            </a:pPr>
            <a:r>
              <a:rPr lang="en-US" sz="352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Configured the WAN port to obtain its IP automatically (DHCP)</a:t>
            </a:r>
          </a:p>
          <a:p>
            <a:pPr marL="760238" lvl="1" indent="-380119" algn="l">
              <a:lnSpc>
                <a:spcPts val="7950"/>
              </a:lnSpc>
              <a:buFont typeface="Arial"/>
              <a:buChar char="•"/>
            </a:pPr>
            <a:r>
              <a:rPr lang="en-US" sz="352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Verified the public IP assigned by the ISP/router</a:t>
            </a:r>
          </a:p>
          <a:p>
            <a:pPr marL="760238" lvl="1" indent="-380119" algn="l">
              <a:lnSpc>
                <a:spcPts val="7950"/>
              </a:lnSpc>
              <a:buFont typeface="Arial"/>
              <a:buChar char="•"/>
            </a:pPr>
            <a:r>
              <a:rPr lang="en-US" sz="352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Ensured internet connectivity was working</a:t>
            </a:r>
          </a:p>
          <a:p>
            <a:pPr marL="760238" lvl="1" indent="-380119" algn="l">
              <a:lnSpc>
                <a:spcPts val="7950"/>
              </a:lnSpc>
              <a:buFont typeface="Arial"/>
              <a:buChar char="•"/>
            </a:pPr>
            <a:r>
              <a:rPr lang="en-US" sz="352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This interface is what allows the firewall to reach the outside world</a:t>
            </a:r>
          </a:p>
          <a:p>
            <a:pPr marL="760238" lvl="1" indent="-380119" algn="l">
              <a:lnSpc>
                <a:spcPts val="7950"/>
              </a:lnSpc>
              <a:buFont typeface="Arial"/>
              <a:buChar char="•"/>
            </a:pPr>
            <a:r>
              <a:rPr lang="en-US" sz="3521" b="1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Critical step before creating NAT or security policies</a:t>
            </a:r>
          </a:p>
          <a:p>
            <a:pPr algn="l">
              <a:lnSpc>
                <a:spcPts val="7950"/>
              </a:lnSpc>
            </a:pPr>
            <a:endParaRPr lang="en-US" sz="3521" b="1">
              <a:solidFill>
                <a:srgbClr val="FFFFFF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14829" y="802110"/>
            <a:ext cx="580292" cy="580292"/>
            <a:chOff x="0" y="0"/>
            <a:chExt cx="580288" cy="580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0263" cy="580263"/>
            </a:xfrm>
            <a:custGeom>
              <a:avLst/>
              <a:gdLst/>
              <a:ahLst/>
              <a:cxnLst/>
              <a:rect l="l" t="t" r="r" b="b"/>
              <a:pathLst>
                <a:path w="580263" h="580263">
                  <a:moveTo>
                    <a:pt x="0" y="580263"/>
                  </a:moveTo>
                  <a:lnTo>
                    <a:pt x="580263" y="580263"/>
                  </a:lnTo>
                  <a:lnTo>
                    <a:pt x="5802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468097" y="3180451"/>
            <a:ext cx="17351807" cy="4446400"/>
          </a:xfrm>
          <a:custGeom>
            <a:avLst/>
            <a:gdLst/>
            <a:ahLst/>
            <a:cxnLst/>
            <a:rect l="l" t="t" r="r" b="b"/>
            <a:pathLst>
              <a:path w="17351807" h="4446400">
                <a:moveTo>
                  <a:pt x="0" y="0"/>
                </a:moveTo>
                <a:lnTo>
                  <a:pt x="17351806" y="0"/>
                </a:lnTo>
                <a:lnTo>
                  <a:pt x="17351806" y="4446401"/>
                </a:lnTo>
                <a:lnTo>
                  <a:pt x="0" y="44464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6739473" y="9806388"/>
            <a:ext cx="1144746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763849" y="915676"/>
            <a:ext cx="8760301" cy="13620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706"/>
              </a:lnSpc>
            </a:pPr>
            <a:r>
              <a:rPr lang="en-US" sz="5922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Dynamic Network Interface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914829" y="802110"/>
            <a:ext cx="580292" cy="580292"/>
            <a:chOff x="0" y="0"/>
            <a:chExt cx="580288" cy="580288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80263" cy="580263"/>
            </a:xfrm>
            <a:custGeom>
              <a:avLst/>
              <a:gdLst/>
              <a:ahLst/>
              <a:cxnLst/>
              <a:rect l="l" t="t" r="r" b="b"/>
              <a:pathLst>
                <a:path w="580263" h="580263">
                  <a:moveTo>
                    <a:pt x="0" y="580263"/>
                  </a:moveTo>
                  <a:lnTo>
                    <a:pt x="580263" y="580263"/>
                  </a:lnTo>
                  <a:lnTo>
                    <a:pt x="58026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546214" y="4410400"/>
            <a:ext cx="17195573" cy="5014502"/>
          </a:xfrm>
          <a:custGeom>
            <a:avLst/>
            <a:gdLst/>
            <a:ahLst/>
            <a:cxnLst/>
            <a:rect l="l" t="t" r="r" b="b"/>
            <a:pathLst>
              <a:path w="17195573" h="5014502">
                <a:moveTo>
                  <a:pt x="0" y="0"/>
                </a:moveTo>
                <a:lnTo>
                  <a:pt x="17195572" y="0"/>
                </a:lnTo>
                <a:lnTo>
                  <a:pt x="17195572" y="5014502"/>
                </a:lnTo>
                <a:lnTo>
                  <a:pt x="0" y="50145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877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6743455" y="9806388"/>
            <a:ext cx="1150302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46214" y="2832680"/>
            <a:ext cx="15550197" cy="12824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2"/>
              </a:lnSpc>
            </a:pPr>
            <a:r>
              <a:rPr lang="en-US" sz="31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Verified the routing table: default route to WAN + LAN routes correctly listed.</a:t>
            </a:r>
          </a:p>
          <a:p>
            <a:pPr algn="l">
              <a:lnSpc>
                <a:spcPts val="5022"/>
              </a:lnSpc>
            </a:pPr>
            <a:r>
              <a:rPr lang="en-US" sz="31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Ensured no missing or conflicting routes, confirming proper traffic flow to LAN and internet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99326" y="587431"/>
            <a:ext cx="7489349" cy="1455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423"/>
              </a:lnSpc>
            </a:pPr>
            <a:r>
              <a:rPr lang="en-US" sz="625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Routing Table Review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179832" y="8049768"/>
            <a:ext cx="7476744" cy="1228344"/>
          </a:xfrm>
          <a:custGeom>
            <a:avLst/>
            <a:gdLst/>
            <a:ahLst/>
            <a:cxnLst/>
            <a:rect l="l" t="t" r="r" b="b"/>
            <a:pathLst>
              <a:path w="7476744" h="1228344">
                <a:moveTo>
                  <a:pt x="0" y="0"/>
                </a:moveTo>
                <a:lnTo>
                  <a:pt x="7476744" y="0"/>
                </a:lnTo>
                <a:lnTo>
                  <a:pt x="7476744" y="1228344"/>
                </a:lnTo>
                <a:lnTo>
                  <a:pt x="0" y="12283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Freeform 11"/>
          <p:cNvSpPr/>
          <p:nvPr/>
        </p:nvSpPr>
        <p:spPr>
          <a:xfrm>
            <a:off x="787449" y="5191321"/>
            <a:ext cx="17097672" cy="3552525"/>
          </a:xfrm>
          <a:custGeom>
            <a:avLst/>
            <a:gdLst/>
            <a:ahLst/>
            <a:cxnLst/>
            <a:rect l="l" t="t" r="r" b="b"/>
            <a:pathLst>
              <a:path w="17097672" h="3552525">
                <a:moveTo>
                  <a:pt x="0" y="0"/>
                </a:moveTo>
                <a:lnTo>
                  <a:pt x="17097672" y="0"/>
                </a:lnTo>
                <a:lnTo>
                  <a:pt x="17097672" y="3552524"/>
                </a:lnTo>
                <a:lnTo>
                  <a:pt x="0" y="35525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871" r="-5402" b="-84670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5840254" y="990600"/>
            <a:ext cx="6607493" cy="8844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23"/>
              </a:lnSpc>
            </a:pPr>
            <a:r>
              <a:rPr lang="en-US" sz="5614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Initial Firewall Policy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72679" y="2531746"/>
            <a:ext cx="21898655" cy="2416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1170" lvl="1" indent="-375585" algn="l">
              <a:lnSpc>
                <a:spcPts val="6300"/>
              </a:lnSpc>
              <a:buFont typeface="Arial"/>
              <a:buChar char="•"/>
            </a:pPr>
            <a:r>
              <a:rPr lang="en-US" sz="3479" spc="21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Confirmed which traffic is allowed (between Branch and HQ)</a:t>
            </a:r>
          </a:p>
          <a:p>
            <a:pPr marL="751170" lvl="1" indent="-375585" algn="l">
              <a:lnSpc>
                <a:spcPts val="6300"/>
              </a:lnSpc>
              <a:buFont typeface="Arial"/>
              <a:buChar char="•"/>
            </a:pPr>
            <a:r>
              <a:rPr lang="en-US" sz="3479" spc="21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Reviewed the source and destination interfaces used by the VPN tunnel.</a:t>
            </a:r>
          </a:p>
          <a:p>
            <a:pPr marL="751170" lvl="1" indent="-375585" algn="l">
              <a:lnSpc>
                <a:spcPts val="6300"/>
              </a:lnSpc>
              <a:buFont typeface="Arial"/>
              <a:buChar char="•"/>
            </a:pPr>
            <a:r>
              <a:rPr lang="en-US" sz="3479" spc="21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Checked the rule order and implicit deny to understand the full traffic flow.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766600" y="9806388"/>
            <a:ext cx="1156811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661416" y="2679192"/>
            <a:ext cx="8467344" cy="1514856"/>
          </a:xfrm>
          <a:custGeom>
            <a:avLst/>
            <a:gdLst/>
            <a:ahLst/>
            <a:cxnLst/>
            <a:rect l="l" t="t" r="r" b="b"/>
            <a:pathLst>
              <a:path w="8467344" h="1514856">
                <a:moveTo>
                  <a:pt x="0" y="0"/>
                </a:moveTo>
                <a:lnTo>
                  <a:pt x="8467344" y="0"/>
                </a:lnTo>
                <a:lnTo>
                  <a:pt x="8467344" y="1514856"/>
                </a:lnTo>
                <a:lnTo>
                  <a:pt x="0" y="1514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078873" y="3686994"/>
            <a:ext cx="3748211" cy="4114800"/>
            <a:chOff x="0" y="0"/>
            <a:chExt cx="3748214" cy="4114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48151" cy="4114800"/>
            </a:xfrm>
            <a:custGeom>
              <a:avLst/>
              <a:gdLst/>
              <a:ahLst/>
              <a:cxnLst/>
              <a:rect l="l" t="t" r="r" b="b"/>
              <a:pathLst>
                <a:path w="3748151" h="4114800">
                  <a:moveTo>
                    <a:pt x="0" y="4114800"/>
                  </a:moveTo>
                  <a:lnTo>
                    <a:pt x="3748151" y="4114800"/>
                  </a:lnTo>
                  <a:lnTo>
                    <a:pt x="374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763733" y="9806388"/>
            <a:ext cx="1132999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17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5538" y="1419225"/>
            <a:ext cx="8119100" cy="838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8414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Week 2 Summary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99619" y="4234825"/>
            <a:ext cx="78610" cy="665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9"/>
              </a:lnSpc>
            </a:pPr>
            <a:r>
              <a:rPr lang="en-US" sz="23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1416" y="3093720"/>
            <a:ext cx="15951834" cy="4663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42010" lvl="1" indent="-421005" algn="l">
              <a:lnSpc>
                <a:spcPts val="7409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Built the initial FortiGate setup and verified system readiness</a:t>
            </a:r>
          </a:p>
          <a:p>
            <a:pPr marL="842010" lvl="1" indent="-421005" algn="l">
              <a:lnSpc>
                <a:spcPts val="7409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Configured static LAN and dynamic WAN interfaces</a:t>
            </a:r>
          </a:p>
          <a:p>
            <a:pPr marL="842010" lvl="1" indent="-421005" algn="l">
              <a:lnSpc>
                <a:spcPts val="7409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Validated internal/external connectivity through routing checks</a:t>
            </a:r>
          </a:p>
          <a:p>
            <a:pPr marL="842010" lvl="1" indent="-421005" algn="l">
              <a:lnSpc>
                <a:spcPts val="7409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Reviewed initial firewall policies and default traffic flow</a:t>
            </a:r>
          </a:p>
          <a:p>
            <a:pPr marL="842010" lvl="1" indent="-421005" algn="l">
              <a:lnSpc>
                <a:spcPts val="7409"/>
              </a:lnSpc>
              <a:buFont typeface="Arial"/>
              <a:buChar char="•"/>
            </a:pPr>
            <a:r>
              <a:rPr lang="en-US" sz="39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Ensured the network is structured and prepared for next security phases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6760495" y="9806388"/>
            <a:ext cx="1156176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18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097944" y="866775"/>
            <a:ext cx="12092111" cy="1874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41"/>
              </a:lnSpc>
            </a:pPr>
            <a:r>
              <a:rPr lang="en-US" sz="527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WEEK 3</a:t>
            </a:r>
          </a:p>
          <a:p>
            <a:pPr algn="ctr">
              <a:lnSpc>
                <a:spcPts val="8112"/>
              </a:lnSpc>
            </a:pPr>
            <a:r>
              <a:rPr lang="en-US" sz="527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Advanced Policies &amp; NAT Implementation</a:t>
            </a:r>
          </a:p>
        </p:txBody>
      </p:sp>
      <p:sp>
        <p:nvSpPr>
          <p:cNvPr id="7" name="Freeform 7"/>
          <p:cNvSpPr/>
          <p:nvPr/>
        </p:nvSpPr>
        <p:spPr>
          <a:xfrm>
            <a:off x="14363776" y="4749460"/>
            <a:ext cx="2962142" cy="2962142"/>
          </a:xfrm>
          <a:custGeom>
            <a:avLst/>
            <a:gdLst/>
            <a:ahLst/>
            <a:cxnLst/>
            <a:rect l="l" t="t" r="r" b="b"/>
            <a:pathLst>
              <a:path w="2962142" h="2962142">
                <a:moveTo>
                  <a:pt x="0" y="0"/>
                </a:moveTo>
                <a:lnTo>
                  <a:pt x="2962142" y="0"/>
                </a:lnTo>
                <a:lnTo>
                  <a:pt x="2962142" y="2962142"/>
                </a:lnTo>
                <a:lnTo>
                  <a:pt x="0" y="296214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531196" y="4417822"/>
            <a:ext cx="16377849" cy="37628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969738" lvl="1" indent="-484869" algn="l">
              <a:lnSpc>
                <a:spcPts val="7411"/>
              </a:lnSpc>
              <a:buAutoNum type="arabicPeriod"/>
            </a:pPr>
            <a:r>
              <a:rPr lang="en-US" sz="4491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Configured firewall policies for VLANs and VPN.</a:t>
            </a:r>
          </a:p>
          <a:p>
            <a:pPr marL="969738" lvl="1" indent="-484869" algn="l">
              <a:lnSpc>
                <a:spcPts val="7411"/>
              </a:lnSpc>
              <a:buAutoNum type="arabicPeriod"/>
            </a:pPr>
            <a:r>
              <a:rPr lang="en-US" sz="4491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Enabled secure internet access for Staff and Guests.</a:t>
            </a:r>
          </a:p>
          <a:p>
            <a:pPr marL="969738" lvl="1" indent="-484869" algn="l">
              <a:lnSpc>
                <a:spcPts val="7411"/>
              </a:lnSpc>
              <a:buAutoNum type="arabicPeriod"/>
            </a:pPr>
            <a:r>
              <a:rPr lang="en-US" sz="4491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Implemented HQ ↔ Branch site‑to‑site VPN.</a:t>
            </a:r>
          </a:p>
          <a:p>
            <a:pPr marL="969738" lvl="1" indent="-484869" algn="l">
              <a:lnSpc>
                <a:spcPts val="7411"/>
              </a:lnSpc>
              <a:buAutoNum type="arabicPeriod"/>
            </a:pPr>
            <a:r>
              <a:rPr lang="en-US" sz="4491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Validated NAT, routing, and DHCP functionality.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10684602" y="4527737"/>
            <a:ext cx="123825" cy="123825"/>
            <a:chOff x="0" y="0"/>
            <a:chExt cx="123825" cy="1238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61976"/>
                  </a:moveTo>
                  <a:cubicBezTo>
                    <a:pt x="123825" y="66040"/>
                    <a:pt x="123444" y="70104"/>
                    <a:pt x="122682" y="74041"/>
                  </a:cubicBezTo>
                  <a:cubicBezTo>
                    <a:pt x="121920" y="77978"/>
                    <a:pt x="120777" y="81915"/>
                    <a:pt x="119126" y="85598"/>
                  </a:cubicBezTo>
                  <a:cubicBezTo>
                    <a:pt x="117475" y="89281"/>
                    <a:pt x="115697" y="92964"/>
                    <a:pt x="113411" y="96266"/>
                  </a:cubicBezTo>
                  <a:cubicBezTo>
                    <a:pt x="111125" y="99568"/>
                    <a:pt x="108585" y="102743"/>
                    <a:pt x="105664" y="105664"/>
                  </a:cubicBezTo>
                  <a:cubicBezTo>
                    <a:pt x="102743" y="108585"/>
                    <a:pt x="99695" y="111125"/>
                    <a:pt x="96266" y="113411"/>
                  </a:cubicBezTo>
                  <a:cubicBezTo>
                    <a:pt x="92837" y="115697"/>
                    <a:pt x="89281" y="117602"/>
                    <a:pt x="85598" y="119126"/>
                  </a:cubicBezTo>
                  <a:cubicBezTo>
                    <a:pt x="81915" y="120650"/>
                    <a:pt x="77978" y="121793"/>
                    <a:pt x="74041" y="122682"/>
                  </a:cubicBezTo>
                  <a:cubicBezTo>
                    <a:pt x="70104" y="123571"/>
                    <a:pt x="66040" y="123825"/>
                    <a:pt x="61976" y="123825"/>
                  </a:cubicBezTo>
                  <a:cubicBezTo>
                    <a:pt x="57912" y="123825"/>
                    <a:pt x="53848" y="123444"/>
                    <a:pt x="49911" y="122682"/>
                  </a:cubicBezTo>
                  <a:cubicBezTo>
                    <a:pt x="45974" y="121920"/>
                    <a:pt x="42037" y="120777"/>
                    <a:pt x="38354" y="119126"/>
                  </a:cubicBezTo>
                  <a:cubicBezTo>
                    <a:pt x="34671" y="117475"/>
                    <a:pt x="30988" y="115697"/>
                    <a:pt x="27686" y="113411"/>
                  </a:cubicBezTo>
                  <a:cubicBezTo>
                    <a:pt x="24384" y="111125"/>
                    <a:pt x="21209" y="108585"/>
                    <a:pt x="18288" y="105664"/>
                  </a:cubicBezTo>
                  <a:cubicBezTo>
                    <a:pt x="15367" y="102743"/>
                    <a:pt x="12700" y="99695"/>
                    <a:pt x="10414" y="96266"/>
                  </a:cubicBezTo>
                  <a:cubicBezTo>
                    <a:pt x="8128" y="92837"/>
                    <a:pt x="6223" y="89408"/>
                    <a:pt x="4699" y="85598"/>
                  </a:cubicBezTo>
                  <a:cubicBezTo>
                    <a:pt x="3175" y="81788"/>
                    <a:pt x="2032" y="77978"/>
                    <a:pt x="1143" y="74041"/>
                  </a:cubicBezTo>
                  <a:cubicBezTo>
                    <a:pt x="254" y="70104"/>
                    <a:pt x="0" y="66040"/>
                    <a:pt x="0" y="61976"/>
                  </a:cubicBezTo>
                  <a:cubicBezTo>
                    <a:pt x="0" y="57912"/>
                    <a:pt x="381" y="53848"/>
                    <a:pt x="1143" y="49911"/>
                  </a:cubicBezTo>
                  <a:cubicBezTo>
                    <a:pt x="1905" y="45974"/>
                    <a:pt x="3048" y="42037"/>
                    <a:pt x="4699" y="38354"/>
                  </a:cubicBezTo>
                  <a:cubicBezTo>
                    <a:pt x="6350" y="34671"/>
                    <a:pt x="8128" y="30988"/>
                    <a:pt x="10414" y="27686"/>
                  </a:cubicBezTo>
                  <a:cubicBezTo>
                    <a:pt x="12700" y="24384"/>
                    <a:pt x="15240" y="21209"/>
                    <a:pt x="18161" y="18288"/>
                  </a:cubicBezTo>
                  <a:cubicBezTo>
                    <a:pt x="21082" y="15367"/>
                    <a:pt x="24130" y="12700"/>
                    <a:pt x="27559" y="10414"/>
                  </a:cubicBezTo>
                  <a:cubicBezTo>
                    <a:pt x="30988" y="8128"/>
                    <a:pt x="34544" y="6223"/>
                    <a:pt x="38227" y="4699"/>
                  </a:cubicBezTo>
                  <a:cubicBezTo>
                    <a:pt x="41910" y="3175"/>
                    <a:pt x="45847" y="2032"/>
                    <a:pt x="49784" y="1143"/>
                  </a:cubicBezTo>
                  <a:cubicBezTo>
                    <a:pt x="53721" y="254"/>
                    <a:pt x="57785" y="0"/>
                    <a:pt x="61976" y="0"/>
                  </a:cubicBezTo>
                  <a:cubicBezTo>
                    <a:pt x="66167" y="0"/>
                    <a:pt x="70104" y="381"/>
                    <a:pt x="74041" y="1143"/>
                  </a:cubicBezTo>
                  <a:cubicBezTo>
                    <a:pt x="77978" y="1905"/>
                    <a:pt x="81915" y="3048"/>
                    <a:pt x="85598" y="4699"/>
                  </a:cubicBezTo>
                  <a:cubicBezTo>
                    <a:pt x="89281" y="6350"/>
                    <a:pt x="92964" y="8128"/>
                    <a:pt x="96266" y="10414"/>
                  </a:cubicBezTo>
                  <a:cubicBezTo>
                    <a:pt x="99568" y="12700"/>
                    <a:pt x="102743" y="15240"/>
                    <a:pt x="105664" y="18161"/>
                  </a:cubicBezTo>
                  <a:cubicBezTo>
                    <a:pt x="108585" y="21082"/>
                    <a:pt x="111125" y="24130"/>
                    <a:pt x="113411" y="27559"/>
                  </a:cubicBezTo>
                  <a:cubicBezTo>
                    <a:pt x="115697" y="30988"/>
                    <a:pt x="117602" y="34544"/>
                    <a:pt x="119126" y="38227"/>
                  </a:cubicBezTo>
                  <a:cubicBezTo>
                    <a:pt x="120650" y="41910"/>
                    <a:pt x="121793" y="45847"/>
                    <a:pt x="122682" y="49784"/>
                  </a:cubicBezTo>
                  <a:cubicBezTo>
                    <a:pt x="123571" y="53721"/>
                    <a:pt x="123825" y="57785"/>
                    <a:pt x="123825" y="61849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Freeform 12"/>
          <p:cNvSpPr/>
          <p:nvPr/>
        </p:nvSpPr>
        <p:spPr>
          <a:xfrm>
            <a:off x="3652326" y="3289240"/>
            <a:ext cx="11270527" cy="6663699"/>
          </a:xfrm>
          <a:custGeom>
            <a:avLst/>
            <a:gdLst/>
            <a:ahLst/>
            <a:cxnLst/>
            <a:rect l="l" t="t" r="r" b="b"/>
            <a:pathLst>
              <a:path w="11270527" h="6663699">
                <a:moveTo>
                  <a:pt x="0" y="0"/>
                </a:moveTo>
                <a:lnTo>
                  <a:pt x="11270527" y="0"/>
                </a:lnTo>
                <a:lnTo>
                  <a:pt x="11270527" y="6663699"/>
                </a:lnTo>
                <a:lnTo>
                  <a:pt x="0" y="66636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6772430" y="9806388"/>
            <a:ext cx="1156811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19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829" y="200003"/>
            <a:ext cx="8021002" cy="12287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624"/>
              </a:lnSpc>
            </a:pPr>
            <a:r>
              <a:rPr lang="en-US" sz="527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Network Topology Overview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1728" y="1972732"/>
            <a:ext cx="16050701" cy="126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65"/>
              </a:lnSpc>
            </a:pPr>
            <a:r>
              <a:rPr lang="en-US" sz="35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Shows HQ VLANs, Branch link, and WAN connection.</a:t>
            </a:r>
          </a:p>
          <a:p>
            <a:pPr algn="l">
              <a:lnSpc>
                <a:spcPts val="4865"/>
              </a:lnSpc>
            </a:pPr>
            <a:r>
              <a:rPr lang="en-US" sz="35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Highlights the path of internal and VPN traffic.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914829" y="4341171"/>
            <a:ext cx="15845942" cy="1949779"/>
          </a:xfrm>
          <a:custGeom>
            <a:avLst/>
            <a:gdLst/>
            <a:ahLst/>
            <a:cxnLst/>
            <a:rect l="l" t="t" r="r" b="b"/>
            <a:pathLst>
              <a:path w="15845942" h="1949779">
                <a:moveTo>
                  <a:pt x="0" y="0"/>
                </a:moveTo>
                <a:lnTo>
                  <a:pt x="15845942" y="0"/>
                </a:lnTo>
                <a:lnTo>
                  <a:pt x="15845942" y="1949779"/>
                </a:lnTo>
                <a:lnTo>
                  <a:pt x="0" y="19497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42661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6760771" y="9806388"/>
            <a:ext cx="1198880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20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86231" y="285262"/>
            <a:ext cx="9285923" cy="1526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2204"/>
              </a:lnSpc>
            </a:pPr>
            <a:r>
              <a:rPr lang="en-US" sz="6376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Policy ID 3 – Staff Internet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62023" y="2273682"/>
            <a:ext cx="16050701" cy="1268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865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Allows VLAN 20 to access internet through WAN.</a:t>
            </a:r>
          </a:p>
          <a:p>
            <a:pPr marL="755651" lvl="1" indent="-377825" algn="l">
              <a:lnSpc>
                <a:spcPts val="4865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NAT enabled; security profiles applied.</a:t>
            </a:r>
          </a:p>
        </p:txBody>
      </p:sp>
      <p:sp>
        <p:nvSpPr>
          <p:cNvPr id="9" name="Freeform 9"/>
          <p:cNvSpPr/>
          <p:nvPr/>
        </p:nvSpPr>
        <p:spPr>
          <a:xfrm>
            <a:off x="7833824" y="7090344"/>
            <a:ext cx="8504173" cy="2480033"/>
          </a:xfrm>
          <a:custGeom>
            <a:avLst/>
            <a:gdLst/>
            <a:ahLst/>
            <a:cxnLst/>
            <a:rect l="l" t="t" r="r" b="b"/>
            <a:pathLst>
              <a:path w="8504173" h="2480033">
                <a:moveTo>
                  <a:pt x="0" y="0"/>
                </a:moveTo>
                <a:lnTo>
                  <a:pt x="8504173" y="0"/>
                </a:lnTo>
                <a:lnTo>
                  <a:pt x="8504173" y="2480033"/>
                </a:lnTo>
                <a:lnTo>
                  <a:pt x="0" y="248003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381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686231" y="7567300"/>
            <a:ext cx="6376410" cy="658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865"/>
              </a:lnSpc>
              <a:buFont typeface="Arial"/>
              <a:buChar char="•"/>
            </a:pPr>
            <a:r>
              <a:rPr lang="en-US" sz="3500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Covers HTTP/HTTPS/DNS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46482" y="5332453"/>
            <a:ext cx="13937846" cy="1132570"/>
          </a:xfrm>
          <a:custGeom>
            <a:avLst/>
            <a:gdLst/>
            <a:ahLst/>
            <a:cxnLst/>
            <a:rect l="l" t="t" r="r" b="b"/>
            <a:pathLst>
              <a:path w="13937846" h="1132570">
                <a:moveTo>
                  <a:pt x="0" y="0"/>
                </a:moveTo>
                <a:lnTo>
                  <a:pt x="13937846" y="0"/>
                </a:lnTo>
                <a:lnTo>
                  <a:pt x="13937846" y="1132570"/>
                </a:lnTo>
                <a:lnTo>
                  <a:pt x="0" y="1132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9813" b="-511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760495" y="9806388"/>
            <a:ext cx="1151096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1525" y="725062"/>
            <a:ext cx="12100243" cy="102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9"/>
              </a:lnSpc>
            </a:pPr>
            <a:r>
              <a:rPr lang="en-US" sz="537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Policy ID 4 – Branch-to-HQ Local Traffic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829" y="2543543"/>
            <a:ext cx="13516201" cy="208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92"/>
              </a:lnSpc>
            </a:pPr>
            <a:r>
              <a:rPr lang="en-US" sz="38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Allows return traffic from Branch to HQ via VPN.</a:t>
            </a:r>
          </a:p>
          <a:p>
            <a:pPr algn="l">
              <a:lnSpc>
                <a:spcPts val="5392"/>
              </a:lnSpc>
            </a:pPr>
            <a:r>
              <a:rPr lang="en-US" sz="38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NAT </a:t>
            </a:r>
            <a:r>
              <a:rPr lang="en-US" sz="387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disabled </a:t>
            </a:r>
            <a:r>
              <a:rPr lang="en-US" sz="38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 preserve internal addressing.</a:t>
            </a:r>
          </a:p>
          <a:p>
            <a:pPr algn="l">
              <a:lnSpc>
                <a:spcPts val="5392"/>
              </a:lnSpc>
            </a:pPr>
            <a:r>
              <a:rPr lang="en-US" sz="3879" i="1">
                <a:solidFill>
                  <a:srgbClr val="FFFFFF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“Required for full two‑way VPN connectivity”</a:t>
            </a:r>
          </a:p>
        </p:txBody>
      </p:sp>
      <p:sp>
        <p:nvSpPr>
          <p:cNvPr id="14" name="Freeform 14"/>
          <p:cNvSpPr/>
          <p:nvPr/>
        </p:nvSpPr>
        <p:spPr>
          <a:xfrm>
            <a:off x="1646482" y="7036346"/>
            <a:ext cx="13937846" cy="1331038"/>
          </a:xfrm>
          <a:custGeom>
            <a:avLst/>
            <a:gdLst/>
            <a:ahLst/>
            <a:cxnLst/>
            <a:rect l="l" t="t" r="r" b="b"/>
            <a:pathLst>
              <a:path w="13937846" h="1331038">
                <a:moveTo>
                  <a:pt x="0" y="0"/>
                </a:moveTo>
                <a:lnTo>
                  <a:pt x="13937846" y="0"/>
                </a:lnTo>
                <a:lnTo>
                  <a:pt x="13937846" y="1331038"/>
                </a:lnTo>
                <a:lnTo>
                  <a:pt x="0" y="13310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2218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5008245" y="7565707"/>
            <a:ext cx="915352" cy="296228"/>
            <a:chOff x="0" y="0"/>
            <a:chExt cx="1220470" cy="394970"/>
          </a:xfrm>
        </p:grpSpPr>
        <p:sp>
          <p:nvSpPr>
            <p:cNvPr id="16" name="Freeform 16"/>
            <p:cNvSpPr/>
            <p:nvPr/>
          </p:nvSpPr>
          <p:spPr>
            <a:xfrm>
              <a:off x="26529" y="50606"/>
              <a:ext cx="1143172" cy="340294"/>
            </a:xfrm>
            <a:custGeom>
              <a:avLst/>
              <a:gdLst/>
              <a:ahLst/>
              <a:cxnLst/>
              <a:rect l="l" t="t" r="r" b="b"/>
              <a:pathLst>
                <a:path w="1143172" h="340294">
                  <a:moveTo>
                    <a:pt x="24271" y="35754"/>
                  </a:moveTo>
                  <a:cubicBezTo>
                    <a:pt x="903111" y="39564"/>
                    <a:pt x="896761" y="49724"/>
                    <a:pt x="899301" y="50994"/>
                  </a:cubicBezTo>
                  <a:cubicBezTo>
                    <a:pt x="905651" y="53534"/>
                    <a:pt x="928511" y="20514"/>
                    <a:pt x="946291" y="11624"/>
                  </a:cubicBezTo>
                  <a:cubicBezTo>
                    <a:pt x="964071" y="4004"/>
                    <a:pt x="986931" y="-1076"/>
                    <a:pt x="1005981" y="194"/>
                  </a:cubicBezTo>
                  <a:cubicBezTo>
                    <a:pt x="1026301" y="1464"/>
                    <a:pt x="1047891" y="7814"/>
                    <a:pt x="1064401" y="16704"/>
                  </a:cubicBezTo>
                  <a:cubicBezTo>
                    <a:pt x="1082181" y="26864"/>
                    <a:pt x="1098691" y="40834"/>
                    <a:pt x="1108851" y="59884"/>
                  </a:cubicBezTo>
                  <a:cubicBezTo>
                    <a:pt x="1121551" y="81474"/>
                    <a:pt x="1129171" y="122114"/>
                    <a:pt x="1126631" y="147514"/>
                  </a:cubicBezTo>
                  <a:cubicBezTo>
                    <a:pt x="1124091" y="169104"/>
                    <a:pt x="1119011" y="188154"/>
                    <a:pt x="1102501" y="203394"/>
                  </a:cubicBezTo>
                  <a:cubicBezTo>
                    <a:pt x="1077101" y="226254"/>
                    <a:pt x="986931" y="266894"/>
                    <a:pt x="967881" y="249114"/>
                  </a:cubicBezTo>
                  <a:cubicBezTo>
                    <a:pt x="943751" y="226254"/>
                    <a:pt x="1059321" y="28134"/>
                    <a:pt x="1033921" y="4004"/>
                  </a:cubicBezTo>
                  <a:cubicBezTo>
                    <a:pt x="1014871" y="-12506"/>
                    <a:pt x="903111" y="56074"/>
                    <a:pt x="899301" y="50994"/>
                  </a:cubicBezTo>
                  <a:cubicBezTo>
                    <a:pt x="898031" y="47184"/>
                    <a:pt x="928511" y="20514"/>
                    <a:pt x="946291" y="11624"/>
                  </a:cubicBezTo>
                  <a:cubicBezTo>
                    <a:pt x="964071" y="4004"/>
                    <a:pt x="986931" y="-1076"/>
                    <a:pt x="1005981" y="194"/>
                  </a:cubicBezTo>
                  <a:cubicBezTo>
                    <a:pt x="1026301" y="1464"/>
                    <a:pt x="1047891" y="7814"/>
                    <a:pt x="1064401" y="16704"/>
                  </a:cubicBezTo>
                  <a:cubicBezTo>
                    <a:pt x="1082181" y="26864"/>
                    <a:pt x="1097421" y="42104"/>
                    <a:pt x="1108851" y="59884"/>
                  </a:cubicBezTo>
                  <a:cubicBezTo>
                    <a:pt x="1119011" y="76394"/>
                    <a:pt x="1127901" y="95444"/>
                    <a:pt x="1127901" y="117034"/>
                  </a:cubicBezTo>
                  <a:cubicBezTo>
                    <a:pt x="1127901" y="142434"/>
                    <a:pt x="1097421" y="200854"/>
                    <a:pt x="1102501" y="203394"/>
                  </a:cubicBezTo>
                  <a:cubicBezTo>
                    <a:pt x="1106311" y="205934"/>
                    <a:pt x="1141871" y="153864"/>
                    <a:pt x="1143141" y="155134"/>
                  </a:cubicBezTo>
                  <a:cubicBezTo>
                    <a:pt x="1144411" y="155134"/>
                    <a:pt x="1106311" y="237684"/>
                    <a:pt x="1070751" y="260544"/>
                  </a:cubicBezTo>
                  <a:cubicBezTo>
                    <a:pt x="1028841" y="287214"/>
                    <a:pt x="978041" y="283404"/>
                    <a:pt x="899301" y="289754"/>
                  </a:cubicBezTo>
                  <a:cubicBezTo>
                    <a:pt x="720231" y="304994"/>
                    <a:pt x="127141" y="393894"/>
                    <a:pt x="24271" y="292294"/>
                  </a:cubicBezTo>
                  <a:cubicBezTo>
                    <a:pt x="-30339" y="237684"/>
                    <a:pt x="24271" y="35754"/>
                    <a:pt x="24271" y="35754"/>
                  </a:cubicBezTo>
                </a:path>
              </a:pathLst>
            </a:custGeom>
            <a:solidFill>
              <a:srgbClr val="FFF234">
                <a:alpha val="24706"/>
              </a:srgbClr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2253415" y="4955178"/>
            <a:ext cx="11891236" cy="1406580"/>
          </a:xfrm>
          <a:custGeom>
            <a:avLst/>
            <a:gdLst/>
            <a:ahLst/>
            <a:cxnLst/>
            <a:rect l="l" t="t" r="r" b="b"/>
            <a:pathLst>
              <a:path w="11891236" h="1406580">
                <a:moveTo>
                  <a:pt x="0" y="0"/>
                </a:moveTo>
                <a:lnTo>
                  <a:pt x="11891236" y="0"/>
                </a:lnTo>
                <a:lnTo>
                  <a:pt x="11891236" y="1406579"/>
                </a:lnTo>
                <a:lnTo>
                  <a:pt x="0" y="1406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554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760495" y="9806388"/>
            <a:ext cx="1186339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1525" y="725062"/>
            <a:ext cx="12796679" cy="102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9"/>
              </a:lnSpc>
            </a:pPr>
            <a:r>
              <a:rPr lang="en-US" sz="537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Policy ID 5 – HQ-to-Branch Communication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829" y="2357856"/>
            <a:ext cx="13516201" cy="208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92"/>
              </a:lnSpc>
              <a:spcBef>
                <a:spcPct val="0"/>
              </a:spcBef>
            </a:pP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Staff VLAN can access Branch through VPN tunnel.</a:t>
            </a:r>
          </a:p>
          <a:p>
            <a:pPr marL="0" lvl="0" indent="0" algn="l">
              <a:lnSpc>
                <a:spcPts val="5392"/>
              </a:lnSpc>
              <a:spcBef>
                <a:spcPct val="0"/>
              </a:spcBef>
            </a:pP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 services allowed; security inspection enabled.</a:t>
            </a:r>
          </a:p>
          <a:p>
            <a:pPr marL="0" lvl="0" indent="0" algn="l">
              <a:lnSpc>
                <a:spcPts val="5392"/>
              </a:lnSpc>
              <a:spcBef>
                <a:spcPct val="0"/>
              </a:spcBef>
            </a:pP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Core rule for site‑to‑site connectivity.</a:t>
            </a:r>
          </a:p>
        </p:txBody>
      </p:sp>
      <p:sp>
        <p:nvSpPr>
          <p:cNvPr id="14" name="Freeform 14"/>
          <p:cNvSpPr/>
          <p:nvPr/>
        </p:nvSpPr>
        <p:spPr>
          <a:xfrm>
            <a:off x="2253415" y="6754756"/>
            <a:ext cx="11891236" cy="1640597"/>
          </a:xfrm>
          <a:custGeom>
            <a:avLst/>
            <a:gdLst/>
            <a:ahLst/>
            <a:cxnLst/>
            <a:rect l="l" t="t" r="r" b="b"/>
            <a:pathLst>
              <a:path w="11891236" h="1640597">
                <a:moveTo>
                  <a:pt x="0" y="0"/>
                </a:moveTo>
                <a:lnTo>
                  <a:pt x="11891236" y="0"/>
                </a:lnTo>
                <a:lnTo>
                  <a:pt x="11891236" y="1640597"/>
                </a:lnTo>
                <a:lnTo>
                  <a:pt x="0" y="164059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6418"/>
            </a:stretch>
          </a:blip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254294" y="5969446"/>
            <a:ext cx="9920693" cy="993350"/>
          </a:xfrm>
          <a:custGeom>
            <a:avLst/>
            <a:gdLst/>
            <a:ahLst/>
            <a:cxnLst/>
            <a:rect l="l" t="t" r="r" b="b"/>
            <a:pathLst>
              <a:path w="9920693" h="993350">
                <a:moveTo>
                  <a:pt x="0" y="0"/>
                </a:moveTo>
                <a:lnTo>
                  <a:pt x="9920693" y="0"/>
                </a:lnTo>
                <a:lnTo>
                  <a:pt x="9920693" y="993350"/>
                </a:lnTo>
                <a:lnTo>
                  <a:pt x="0" y="9933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8205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254294" y="7255267"/>
            <a:ext cx="9920693" cy="1210621"/>
          </a:xfrm>
          <a:custGeom>
            <a:avLst/>
            <a:gdLst/>
            <a:ahLst/>
            <a:cxnLst/>
            <a:rect l="l" t="t" r="r" b="b"/>
            <a:pathLst>
              <a:path w="9920693" h="1210621">
                <a:moveTo>
                  <a:pt x="0" y="0"/>
                </a:moveTo>
                <a:lnTo>
                  <a:pt x="9920693" y="0"/>
                </a:lnTo>
                <a:lnTo>
                  <a:pt x="9920693" y="1210621"/>
                </a:lnTo>
                <a:lnTo>
                  <a:pt x="0" y="12106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187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11949798" y="657711"/>
            <a:ext cx="5824827" cy="8441778"/>
          </a:xfrm>
          <a:custGeom>
            <a:avLst/>
            <a:gdLst/>
            <a:ahLst/>
            <a:cxnLst/>
            <a:rect l="l" t="t" r="r" b="b"/>
            <a:pathLst>
              <a:path w="5824827" h="8441778">
                <a:moveTo>
                  <a:pt x="0" y="0"/>
                </a:moveTo>
                <a:lnTo>
                  <a:pt x="5824827" y="0"/>
                </a:lnTo>
                <a:lnTo>
                  <a:pt x="5824827" y="8441778"/>
                </a:lnTo>
                <a:lnTo>
                  <a:pt x="0" y="84417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16760495" y="9806388"/>
            <a:ext cx="1178401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23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54294" y="40120"/>
            <a:ext cx="10479881" cy="102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9"/>
              </a:lnSpc>
            </a:pPr>
            <a:r>
              <a:rPr lang="en-US" sz="537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Policy ID 6 – Staff Access to Servers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54767" y="2218832"/>
            <a:ext cx="13516201" cy="18877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34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VLAN 20 allowed to reach VLAN 40 for restricted services.</a:t>
            </a:r>
          </a:p>
          <a:p>
            <a:pPr algn="l">
              <a:lnSpc>
                <a:spcPts val="4836"/>
              </a:lnSpc>
            </a:pPr>
            <a:r>
              <a:rPr lang="en-US" sz="34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FTP, MySQL, RADIUS enabled.</a:t>
            </a:r>
          </a:p>
          <a:p>
            <a:pPr algn="l">
              <a:lnSpc>
                <a:spcPts val="4836"/>
              </a:lnSpc>
            </a:pPr>
            <a:r>
              <a:rPr lang="en-US" sz="34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Security and NAT applied.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11420965" y="1028700"/>
            <a:ext cx="5516465" cy="8131948"/>
          </a:xfrm>
          <a:custGeom>
            <a:avLst/>
            <a:gdLst/>
            <a:ahLst/>
            <a:cxnLst/>
            <a:rect l="l" t="t" r="r" b="b"/>
            <a:pathLst>
              <a:path w="5516465" h="8131948">
                <a:moveTo>
                  <a:pt x="0" y="0"/>
                </a:moveTo>
                <a:lnTo>
                  <a:pt x="5516465" y="0"/>
                </a:lnTo>
                <a:lnTo>
                  <a:pt x="5516465" y="8131948"/>
                </a:lnTo>
                <a:lnTo>
                  <a:pt x="0" y="81319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5177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760495" y="9806388"/>
            <a:ext cx="1179989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24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71356" y="267321"/>
            <a:ext cx="10387807" cy="102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9"/>
              </a:lnSpc>
            </a:pPr>
            <a:r>
              <a:rPr lang="en-US" sz="537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Policy ID 7 – Guests Internet Access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1356" y="3443181"/>
            <a:ext cx="13516201" cy="22755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94462" lvl="1" indent="-397231" algn="l">
              <a:lnSpc>
                <a:spcPts val="5998"/>
              </a:lnSpc>
              <a:buFont typeface="Arial"/>
              <a:buChar char="•"/>
            </a:pPr>
            <a:r>
              <a:rPr lang="en-US" sz="36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Guests (VLAN 30) allowed limited internet access.</a:t>
            </a:r>
          </a:p>
          <a:p>
            <a:pPr marL="794462" lvl="1" indent="-397231" algn="l">
              <a:lnSpc>
                <a:spcPts val="5998"/>
              </a:lnSpc>
              <a:buFont typeface="Arial"/>
              <a:buChar char="•"/>
            </a:pPr>
            <a:r>
              <a:rPr lang="en-US" sz="36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Only DNS, HTTP, HTTPS, PING allowed.</a:t>
            </a:r>
          </a:p>
          <a:p>
            <a:pPr marL="794462" lvl="1" indent="-397231" algn="l">
              <a:lnSpc>
                <a:spcPts val="5998"/>
              </a:lnSpc>
              <a:buFont typeface="Arial"/>
              <a:buChar char="•"/>
            </a:pPr>
            <a:r>
              <a:rPr lang="en-US" sz="36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Strict inspection applied.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6763267" y="9806388"/>
            <a:ext cx="1185545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25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14829" y="545996"/>
            <a:ext cx="9784874" cy="102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9"/>
              </a:lnSpc>
            </a:pPr>
            <a:r>
              <a:rPr lang="en-US" sz="537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Session Table &amp; VPN Verification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829" y="2379619"/>
            <a:ext cx="16344471" cy="682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37641" lvl="1" indent="-418821" algn="l">
              <a:lnSpc>
                <a:spcPts val="5392"/>
              </a:lnSpc>
              <a:spcBef>
                <a:spcPct val="0"/>
              </a:spcBef>
              <a:buFont typeface="Arial"/>
              <a:buChar char="•"/>
            </a:pPr>
            <a:r>
              <a:rPr lang="en-US" sz="38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Shows active</a:t>
            </a: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sessions across VLANs (Staff, Guests, Servers).</a:t>
            </a:r>
          </a:p>
          <a:p>
            <a:pPr marL="837641" lvl="1" indent="-418821" algn="l">
              <a:lnSpc>
                <a:spcPts val="5392"/>
              </a:lnSpc>
              <a:spcBef>
                <a:spcPct val="0"/>
              </a:spcBef>
              <a:buFont typeface="Arial"/>
              <a:buChar char="•"/>
            </a:pP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ICMP entries confirm successful inter-VLAN connectivity.</a:t>
            </a:r>
          </a:p>
          <a:p>
            <a:pPr marL="837641" lvl="1" indent="-418821" algn="l">
              <a:lnSpc>
                <a:spcPts val="5392"/>
              </a:lnSpc>
              <a:spcBef>
                <a:spcPct val="0"/>
              </a:spcBef>
              <a:buFont typeface="Arial"/>
              <a:buChar char="•"/>
            </a:pP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DHCP broadcasts show devices receiving IPs normally.</a:t>
            </a:r>
          </a:p>
          <a:p>
            <a:pPr marL="837641" lvl="1" indent="-418821" algn="l">
              <a:lnSpc>
                <a:spcPts val="5392"/>
              </a:lnSpc>
              <a:spcBef>
                <a:spcPct val="0"/>
              </a:spcBef>
              <a:buFont typeface="Arial"/>
              <a:buChar char="•"/>
            </a:pP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SNAT is active → internal IPs are translated to the firewall’s WAN IP when going to the internet.</a:t>
            </a:r>
          </a:p>
          <a:p>
            <a:pPr marL="837641" lvl="1" indent="-418821" algn="l">
              <a:lnSpc>
                <a:spcPts val="5392"/>
              </a:lnSpc>
              <a:spcBef>
                <a:spcPct val="0"/>
              </a:spcBef>
              <a:buFont typeface="Arial"/>
              <a:buChar char="•"/>
            </a:pP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DNAT is active → firewall handles traffic coming from outside into internal networks.</a:t>
            </a:r>
          </a:p>
          <a:p>
            <a:pPr marL="837641" lvl="1" indent="-418821" algn="l">
              <a:lnSpc>
                <a:spcPts val="5392"/>
              </a:lnSpc>
              <a:spcBef>
                <a:spcPct val="0"/>
              </a:spcBef>
              <a:buFont typeface="Arial"/>
              <a:buChar char="•"/>
            </a:pP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UDP/500 session indicates an active IPsec VPN negotiation.</a:t>
            </a:r>
          </a:p>
          <a:p>
            <a:pPr marL="0" lvl="0" indent="0" algn="l">
              <a:lnSpc>
                <a:spcPts val="5392"/>
              </a:lnSpc>
              <a:spcBef>
                <a:spcPct val="0"/>
              </a:spcBef>
            </a:pPr>
            <a:endParaRPr lang="en-US" sz="3879" u="none" strike="noStrike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  <a:p>
            <a:pPr marL="0" lvl="0" indent="0" algn="l">
              <a:lnSpc>
                <a:spcPts val="5392"/>
              </a:lnSpc>
              <a:spcBef>
                <a:spcPct val="0"/>
              </a:spcBef>
            </a:pPr>
            <a:endParaRPr lang="en-US" sz="3879" u="none" strike="noStrike">
              <a:solidFill>
                <a:srgbClr val="FFFFFF"/>
              </a:solidFill>
              <a:latin typeface="Times New Roman MT"/>
              <a:ea typeface="Times New Roman MT"/>
              <a:cs typeface="Times New Roman MT"/>
              <a:sym typeface="Times New Roman M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10"/>
          <p:cNvSpPr/>
          <p:nvPr/>
        </p:nvSpPr>
        <p:spPr>
          <a:xfrm>
            <a:off x="3449807" y="2986609"/>
            <a:ext cx="11388386" cy="4313782"/>
          </a:xfrm>
          <a:custGeom>
            <a:avLst/>
            <a:gdLst/>
            <a:ahLst/>
            <a:cxnLst/>
            <a:rect l="l" t="t" r="r" b="b"/>
            <a:pathLst>
              <a:path w="11388386" h="4313782">
                <a:moveTo>
                  <a:pt x="0" y="0"/>
                </a:moveTo>
                <a:lnTo>
                  <a:pt x="11388386" y="0"/>
                </a:lnTo>
                <a:lnTo>
                  <a:pt x="11388386" y="4313782"/>
                </a:lnTo>
                <a:lnTo>
                  <a:pt x="0" y="43137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TextBox 11"/>
          <p:cNvSpPr txBox="1"/>
          <p:nvPr/>
        </p:nvSpPr>
        <p:spPr>
          <a:xfrm>
            <a:off x="16763267" y="9806388"/>
            <a:ext cx="1192054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829" y="545996"/>
            <a:ext cx="9784874" cy="10256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19"/>
              </a:lnSpc>
            </a:pPr>
            <a:r>
              <a:rPr lang="en-US" sz="5370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Session Table &amp; VPN Verification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492796" y="4574609"/>
            <a:ext cx="6772982" cy="5041222"/>
          </a:xfrm>
          <a:custGeom>
            <a:avLst/>
            <a:gdLst/>
            <a:ahLst/>
            <a:cxnLst/>
            <a:rect l="l" t="t" r="r" b="b"/>
            <a:pathLst>
              <a:path w="6772982" h="5041222">
                <a:moveTo>
                  <a:pt x="0" y="0"/>
                </a:moveTo>
                <a:lnTo>
                  <a:pt x="6772982" y="0"/>
                </a:lnTo>
                <a:lnTo>
                  <a:pt x="6772982" y="5041221"/>
                </a:lnTo>
                <a:lnTo>
                  <a:pt x="0" y="504122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90" t="-177" r="-119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7606685" y="5143500"/>
            <a:ext cx="9988396" cy="3150075"/>
          </a:xfrm>
          <a:custGeom>
            <a:avLst/>
            <a:gdLst/>
            <a:ahLst/>
            <a:cxnLst/>
            <a:rect l="l" t="t" r="r" b="b"/>
            <a:pathLst>
              <a:path w="9988396" h="3150075">
                <a:moveTo>
                  <a:pt x="0" y="0"/>
                </a:moveTo>
                <a:lnTo>
                  <a:pt x="9988396" y="0"/>
                </a:lnTo>
                <a:lnTo>
                  <a:pt x="9988396" y="3150075"/>
                </a:lnTo>
                <a:lnTo>
                  <a:pt x="0" y="31500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838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42590" y="2186526"/>
            <a:ext cx="10379551" cy="20876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392"/>
              </a:lnSpc>
              <a:spcBef>
                <a:spcPct val="0"/>
              </a:spcBef>
            </a:pP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First DHCP attempt failed (interface initializing).</a:t>
            </a:r>
          </a:p>
          <a:p>
            <a:pPr marL="0" lvl="0" indent="0" algn="l">
              <a:lnSpc>
                <a:spcPts val="5392"/>
              </a:lnSpc>
              <a:spcBef>
                <a:spcPct val="0"/>
              </a:spcBef>
            </a:pP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Second attempt completed DORA cycle.</a:t>
            </a:r>
          </a:p>
          <a:p>
            <a:pPr marL="0" lvl="0" indent="0" algn="l">
              <a:lnSpc>
                <a:spcPts val="5392"/>
              </a:lnSpc>
              <a:spcBef>
                <a:spcPct val="0"/>
              </a:spcBef>
            </a:pPr>
            <a:r>
              <a:rPr lang="en-US" sz="3879" u="none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Guest2 received valid IP and gateway.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898719" y="870144"/>
            <a:ext cx="10729912" cy="8896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lang="en-US" sz="5663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DHCP Validation – Guest Network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6690038" y="9806388"/>
            <a:ext cx="1168241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78535" y="297180"/>
              <a:ext cx="728885" cy="340360"/>
            </a:xfrm>
            <a:custGeom>
              <a:avLst/>
              <a:gdLst/>
              <a:ahLst/>
              <a:cxnLst/>
              <a:rect l="l" t="t" r="r" b="b"/>
              <a:pathLst>
                <a:path w="728885" h="340360">
                  <a:moveTo>
                    <a:pt x="558546" y="0"/>
                  </a:moveTo>
                  <a:cubicBezTo>
                    <a:pt x="551942" y="0"/>
                    <a:pt x="545338" y="2540"/>
                    <a:pt x="540258" y="7493"/>
                  </a:cubicBezTo>
                  <a:cubicBezTo>
                    <a:pt x="530225" y="17526"/>
                    <a:pt x="530225" y="34036"/>
                    <a:pt x="540258" y="43942"/>
                  </a:cubicBezTo>
                  <a:lnTo>
                    <a:pt x="640715" y="144399"/>
                  </a:lnTo>
                  <a:lnTo>
                    <a:pt x="25908" y="144399"/>
                  </a:lnTo>
                  <a:cubicBezTo>
                    <a:pt x="11684" y="144399"/>
                    <a:pt x="0" y="156083"/>
                    <a:pt x="0" y="170307"/>
                  </a:cubicBezTo>
                  <a:cubicBezTo>
                    <a:pt x="0" y="184531"/>
                    <a:pt x="11684" y="196215"/>
                    <a:pt x="25908" y="196215"/>
                  </a:cubicBezTo>
                  <a:lnTo>
                    <a:pt x="640461" y="196215"/>
                  </a:lnTo>
                  <a:lnTo>
                    <a:pt x="540004" y="296672"/>
                  </a:lnTo>
                  <a:cubicBezTo>
                    <a:pt x="534797" y="301879"/>
                    <a:pt x="532511" y="308356"/>
                    <a:pt x="532511" y="315087"/>
                  </a:cubicBezTo>
                  <a:cubicBezTo>
                    <a:pt x="532511" y="321818"/>
                    <a:pt x="535051" y="328295"/>
                    <a:pt x="540004" y="333502"/>
                  </a:cubicBezTo>
                  <a:cubicBezTo>
                    <a:pt x="543941" y="337185"/>
                    <a:pt x="548894" y="339471"/>
                    <a:pt x="553974" y="340360"/>
                  </a:cubicBezTo>
                  <a:lnTo>
                    <a:pt x="562864" y="340360"/>
                  </a:lnTo>
                  <a:cubicBezTo>
                    <a:pt x="568071" y="339471"/>
                    <a:pt x="573024" y="337058"/>
                    <a:pt x="576961" y="333121"/>
                  </a:cubicBezTo>
                  <a:lnTo>
                    <a:pt x="721360" y="188722"/>
                  </a:lnTo>
                  <a:cubicBezTo>
                    <a:pt x="731393" y="178689"/>
                    <a:pt x="731393" y="162179"/>
                    <a:pt x="721360" y="152273"/>
                  </a:cubicBezTo>
                  <a:lnTo>
                    <a:pt x="576961" y="7493"/>
                  </a:lnTo>
                  <a:cubicBezTo>
                    <a:pt x="572008" y="2540"/>
                    <a:pt x="565277" y="0"/>
                    <a:pt x="558673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661416" y="2679192"/>
            <a:ext cx="8467344" cy="1514856"/>
          </a:xfrm>
          <a:custGeom>
            <a:avLst/>
            <a:gdLst/>
            <a:ahLst/>
            <a:cxnLst/>
            <a:rect l="l" t="t" r="r" b="b"/>
            <a:pathLst>
              <a:path w="8467344" h="1514856">
                <a:moveTo>
                  <a:pt x="0" y="0"/>
                </a:moveTo>
                <a:lnTo>
                  <a:pt x="8467344" y="0"/>
                </a:lnTo>
                <a:lnTo>
                  <a:pt x="8467344" y="1514856"/>
                </a:lnTo>
                <a:lnTo>
                  <a:pt x="0" y="15148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>
            <a:grpSpLocks noChangeAspect="1"/>
          </p:cNvGrpSpPr>
          <p:nvPr/>
        </p:nvGrpSpPr>
        <p:grpSpPr>
          <a:xfrm>
            <a:off x="6078873" y="3686994"/>
            <a:ext cx="3748211" cy="4114800"/>
            <a:chOff x="0" y="0"/>
            <a:chExt cx="3748214" cy="4114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3748151" cy="4114800"/>
            </a:xfrm>
            <a:custGeom>
              <a:avLst/>
              <a:gdLst/>
              <a:ahLst/>
              <a:cxnLst/>
              <a:rect l="l" t="t" r="r" b="b"/>
              <a:pathLst>
                <a:path w="3748151" h="4114800">
                  <a:moveTo>
                    <a:pt x="0" y="4114800"/>
                  </a:moveTo>
                  <a:lnTo>
                    <a:pt x="3748151" y="4114800"/>
                  </a:lnTo>
                  <a:lnTo>
                    <a:pt x="3748151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6763733" y="9806388"/>
            <a:ext cx="1191419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28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5538" y="1419225"/>
            <a:ext cx="8308462" cy="7092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207"/>
              </a:lnSpc>
            </a:pPr>
            <a:r>
              <a:rPr lang="en-US" sz="8414" b="1" dirty="0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Week 3 Summary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199619" y="4234825"/>
            <a:ext cx="78610" cy="6655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49"/>
              </a:lnSpc>
            </a:pPr>
            <a:r>
              <a:rPr lang="en-US" sz="2379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329184" y="2951480"/>
            <a:ext cx="17629632" cy="4088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All VLANs were configured and linked through secure, well-defined firewall policies.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Internet access for Staff and Guests works with proper filtering and NAT.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Site-to-site VPN between HQ and Branch is fully functional and verified.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Internal services are protected through controlled access rules.</a:t>
            </a:r>
          </a:p>
          <a:p>
            <a:pPr marL="734059" lvl="1" indent="-367030" algn="l">
              <a:lnSpc>
                <a:spcPts val="64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DHCP, NAT, routing, and session handling were successfully validated.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424439" y="7673738"/>
            <a:ext cx="12084686" cy="8121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59"/>
              </a:lnSpc>
              <a:spcBef>
                <a:spcPct val="0"/>
              </a:spcBef>
            </a:pPr>
            <a:r>
              <a:rPr lang="en-US" sz="3399" u="sng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“</a:t>
            </a:r>
            <a:r>
              <a:rPr lang="en-US" sz="3399" u="sng" strike="noStrike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The network is stable, secure, and operating exactly as designed”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81043" y="297180"/>
              <a:ext cx="728758" cy="340487"/>
            </a:xfrm>
            <a:custGeom>
              <a:avLst/>
              <a:gdLst/>
              <a:ahLst/>
              <a:cxnLst/>
              <a:rect l="l" t="t" r="r" b="b"/>
              <a:pathLst>
                <a:path w="728758" h="340487">
                  <a:moveTo>
                    <a:pt x="170212" y="0"/>
                  </a:moveTo>
                  <a:cubicBezTo>
                    <a:pt x="163608" y="0"/>
                    <a:pt x="157004" y="2540"/>
                    <a:pt x="151924" y="7493"/>
                  </a:cubicBezTo>
                  <a:lnTo>
                    <a:pt x="7525" y="152273"/>
                  </a:lnTo>
                  <a:cubicBezTo>
                    <a:pt x="-2508" y="162306"/>
                    <a:pt x="-2508" y="178816"/>
                    <a:pt x="7525" y="188722"/>
                  </a:cubicBezTo>
                  <a:lnTo>
                    <a:pt x="151924" y="333248"/>
                  </a:lnTo>
                  <a:cubicBezTo>
                    <a:pt x="155861" y="337185"/>
                    <a:pt x="160814" y="339598"/>
                    <a:pt x="166021" y="340487"/>
                  </a:cubicBezTo>
                  <a:lnTo>
                    <a:pt x="174911" y="340487"/>
                  </a:lnTo>
                  <a:cubicBezTo>
                    <a:pt x="179991" y="339598"/>
                    <a:pt x="184817" y="337312"/>
                    <a:pt x="188881" y="333629"/>
                  </a:cubicBezTo>
                  <a:cubicBezTo>
                    <a:pt x="193707" y="328422"/>
                    <a:pt x="196374" y="321945"/>
                    <a:pt x="196374" y="315214"/>
                  </a:cubicBezTo>
                  <a:cubicBezTo>
                    <a:pt x="196374" y="308483"/>
                    <a:pt x="194088" y="302006"/>
                    <a:pt x="188881" y="296799"/>
                  </a:cubicBezTo>
                  <a:lnTo>
                    <a:pt x="88297" y="196215"/>
                  </a:lnTo>
                  <a:lnTo>
                    <a:pt x="702850" y="196215"/>
                  </a:lnTo>
                  <a:cubicBezTo>
                    <a:pt x="717074" y="196215"/>
                    <a:pt x="728758" y="184531"/>
                    <a:pt x="728758" y="170307"/>
                  </a:cubicBezTo>
                  <a:cubicBezTo>
                    <a:pt x="728758" y="156083"/>
                    <a:pt x="717074" y="144399"/>
                    <a:pt x="702850" y="144399"/>
                  </a:cubicBezTo>
                  <a:lnTo>
                    <a:pt x="87916" y="144399"/>
                  </a:lnTo>
                  <a:lnTo>
                    <a:pt x="188373" y="43942"/>
                  </a:lnTo>
                  <a:cubicBezTo>
                    <a:pt x="198406" y="33909"/>
                    <a:pt x="198406" y="17399"/>
                    <a:pt x="188373" y="7493"/>
                  </a:cubicBezTo>
                  <a:cubicBezTo>
                    <a:pt x="183420" y="2540"/>
                    <a:pt x="176689" y="0"/>
                    <a:pt x="17008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777554" y="4048925"/>
            <a:ext cx="95250" cy="95250"/>
            <a:chOff x="0" y="0"/>
            <a:chExt cx="95250" cy="95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10"/>
          <p:cNvGrpSpPr>
            <a:grpSpLocks noChangeAspect="1"/>
          </p:cNvGrpSpPr>
          <p:nvPr/>
        </p:nvGrpSpPr>
        <p:grpSpPr>
          <a:xfrm>
            <a:off x="777554" y="5734850"/>
            <a:ext cx="95250" cy="95250"/>
            <a:chOff x="0" y="0"/>
            <a:chExt cx="95250" cy="952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5377" cy="95377"/>
            </a:xfrm>
            <a:custGeom>
              <a:avLst/>
              <a:gdLst/>
              <a:ahLst/>
              <a:cxnLst/>
              <a:rect l="l" t="t" r="r" b="b"/>
              <a:pathLst>
                <a:path w="95377" h="95377">
                  <a:moveTo>
                    <a:pt x="95250" y="47625"/>
                  </a:moveTo>
                  <a:cubicBezTo>
                    <a:pt x="95250" y="53975"/>
                    <a:pt x="93980" y="60071"/>
                    <a:pt x="91567" y="65913"/>
                  </a:cubicBezTo>
                  <a:cubicBezTo>
                    <a:pt x="89154" y="71755"/>
                    <a:pt x="85725" y="76835"/>
                    <a:pt x="81280" y="81407"/>
                  </a:cubicBezTo>
                  <a:cubicBezTo>
                    <a:pt x="76835" y="85979"/>
                    <a:pt x="71628" y="89281"/>
                    <a:pt x="65786" y="91694"/>
                  </a:cubicBezTo>
                  <a:cubicBezTo>
                    <a:pt x="59944" y="94107"/>
                    <a:pt x="53848" y="95377"/>
                    <a:pt x="47498" y="95377"/>
                  </a:cubicBezTo>
                  <a:cubicBezTo>
                    <a:pt x="41148" y="95377"/>
                    <a:pt x="35052" y="94107"/>
                    <a:pt x="29210" y="91694"/>
                  </a:cubicBezTo>
                  <a:cubicBezTo>
                    <a:pt x="23368" y="89281"/>
                    <a:pt x="18288" y="85852"/>
                    <a:pt x="13716" y="81407"/>
                  </a:cubicBezTo>
                  <a:cubicBezTo>
                    <a:pt x="9144" y="76962"/>
                    <a:pt x="6096" y="71628"/>
                    <a:pt x="3683" y="65913"/>
                  </a:cubicBezTo>
                  <a:cubicBezTo>
                    <a:pt x="1270" y="60198"/>
                    <a:pt x="0" y="53975"/>
                    <a:pt x="0" y="47625"/>
                  </a:cubicBezTo>
                  <a:cubicBezTo>
                    <a:pt x="0" y="41275"/>
                    <a:pt x="1270" y="35179"/>
                    <a:pt x="3683" y="29337"/>
                  </a:cubicBezTo>
                  <a:cubicBezTo>
                    <a:pt x="6096" y="23495"/>
                    <a:pt x="9525" y="18415"/>
                    <a:pt x="13970" y="13970"/>
                  </a:cubicBezTo>
                  <a:cubicBezTo>
                    <a:pt x="18415" y="9525"/>
                    <a:pt x="23622" y="6096"/>
                    <a:pt x="29337" y="3683"/>
                  </a:cubicBezTo>
                  <a:cubicBezTo>
                    <a:pt x="35052" y="1270"/>
                    <a:pt x="41275" y="0"/>
                    <a:pt x="47625" y="0"/>
                  </a:cubicBezTo>
                  <a:cubicBezTo>
                    <a:pt x="53975" y="0"/>
                    <a:pt x="60071" y="1270"/>
                    <a:pt x="65913" y="3683"/>
                  </a:cubicBezTo>
                  <a:cubicBezTo>
                    <a:pt x="71755" y="6096"/>
                    <a:pt x="76835" y="9525"/>
                    <a:pt x="81407" y="13970"/>
                  </a:cubicBezTo>
                  <a:cubicBezTo>
                    <a:pt x="85979" y="18415"/>
                    <a:pt x="89281" y="23622"/>
                    <a:pt x="91694" y="29464"/>
                  </a:cubicBezTo>
                  <a:cubicBezTo>
                    <a:pt x="94107" y="35306"/>
                    <a:pt x="95377" y="41402"/>
                    <a:pt x="95377" y="47752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4" name="Group 14"/>
          <p:cNvGrpSpPr>
            <a:grpSpLocks noChangeAspect="1"/>
          </p:cNvGrpSpPr>
          <p:nvPr/>
        </p:nvGrpSpPr>
        <p:grpSpPr>
          <a:xfrm>
            <a:off x="10155231" y="3960238"/>
            <a:ext cx="104775" cy="104775"/>
            <a:chOff x="0" y="0"/>
            <a:chExt cx="104775" cy="104775"/>
          </a:xfrm>
        </p:grpSpPr>
        <p:sp>
          <p:nvSpPr>
            <p:cNvPr id="15" name="Freeform 15"/>
            <p:cNvSpPr/>
            <p:nvPr/>
          </p:nvSpPr>
          <p:spPr>
            <a:xfrm>
              <a:off x="0" y="127"/>
              <a:ext cx="104775" cy="104394"/>
            </a:xfrm>
            <a:custGeom>
              <a:avLst/>
              <a:gdLst/>
              <a:ahLst/>
              <a:cxnLst/>
              <a:rect l="l" t="t" r="r" b="b"/>
              <a:pathLst>
                <a:path w="104775" h="104394">
                  <a:moveTo>
                    <a:pt x="104775" y="52197"/>
                  </a:moveTo>
                  <a:cubicBezTo>
                    <a:pt x="104775" y="55626"/>
                    <a:pt x="104394" y="59055"/>
                    <a:pt x="103759" y="62357"/>
                  </a:cubicBezTo>
                  <a:cubicBezTo>
                    <a:pt x="103124" y="65659"/>
                    <a:pt x="102108" y="68961"/>
                    <a:pt x="100838" y="72136"/>
                  </a:cubicBezTo>
                  <a:cubicBezTo>
                    <a:pt x="99568" y="75311"/>
                    <a:pt x="97917" y="78359"/>
                    <a:pt x="96012" y="81153"/>
                  </a:cubicBezTo>
                  <a:cubicBezTo>
                    <a:pt x="94107" y="83947"/>
                    <a:pt x="91948" y="86614"/>
                    <a:pt x="89535" y="89154"/>
                  </a:cubicBezTo>
                  <a:cubicBezTo>
                    <a:pt x="87122" y="91694"/>
                    <a:pt x="84455" y="93726"/>
                    <a:pt x="81534" y="95631"/>
                  </a:cubicBezTo>
                  <a:cubicBezTo>
                    <a:pt x="78613" y="97536"/>
                    <a:pt x="75692" y="99187"/>
                    <a:pt x="72517" y="100457"/>
                  </a:cubicBezTo>
                  <a:cubicBezTo>
                    <a:pt x="69342" y="101727"/>
                    <a:pt x="66040" y="102743"/>
                    <a:pt x="62738" y="103378"/>
                  </a:cubicBezTo>
                  <a:cubicBezTo>
                    <a:pt x="59436" y="104013"/>
                    <a:pt x="56007" y="104394"/>
                    <a:pt x="52578" y="104394"/>
                  </a:cubicBezTo>
                  <a:cubicBezTo>
                    <a:pt x="49149" y="104394"/>
                    <a:pt x="45720" y="104013"/>
                    <a:pt x="42418" y="103378"/>
                  </a:cubicBezTo>
                  <a:cubicBezTo>
                    <a:pt x="39116" y="102743"/>
                    <a:pt x="35814" y="101727"/>
                    <a:pt x="32639" y="100457"/>
                  </a:cubicBezTo>
                  <a:cubicBezTo>
                    <a:pt x="29464" y="99187"/>
                    <a:pt x="26416" y="97536"/>
                    <a:pt x="23622" y="95631"/>
                  </a:cubicBezTo>
                  <a:cubicBezTo>
                    <a:pt x="20828" y="93726"/>
                    <a:pt x="18161" y="91567"/>
                    <a:pt x="15621" y="89154"/>
                  </a:cubicBezTo>
                  <a:cubicBezTo>
                    <a:pt x="13081" y="86741"/>
                    <a:pt x="11049" y="84074"/>
                    <a:pt x="9144" y="81153"/>
                  </a:cubicBezTo>
                  <a:cubicBezTo>
                    <a:pt x="7239" y="78232"/>
                    <a:pt x="5334" y="75438"/>
                    <a:pt x="3937" y="72263"/>
                  </a:cubicBezTo>
                  <a:cubicBezTo>
                    <a:pt x="2540" y="69088"/>
                    <a:pt x="1651" y="65913"/>
                    <a:pt x="1016" y="62484"/>
                  </a:cubicBezTo>
                  <a:cubicBezTo>
                    <a:pt x="381" y="59055"/>
                    <a:pt x="0" y="55753"/>
                    <a:pt x="0" y="52197"/>
                  </a:cubicBezTo>
                  <a:cubicBezTo>
                    <a:pt x="0" y="48641"/>
                    <a:pt x="381" y="45339"/>
                    <a:pt x="1016" y="42037"/>
                  </a:cubicBezTo>
                  <a:cubicBezTo>
                    <a:pt x="1651" y="38735"/>
                    <a:pt x="2667" y="35433"/>
                    <a:pt x="3937" y="32258"/>
                  </a:cubicBezTo>
                  <a:cubicBezTo>
                    <a:pt x="5207" y="29083"/>
                    <a:pt x="6858" y="26035"/>
                    <a:pt x="8763" y="23241"/>
                  </a:cubicBezTo>
                  <a:cubicBezTo>
                    <a:pt x="10668" y="20447"/>
                    <a:pt x="12827" y="17780"/>
                    <a:pt x="15240" y="15240"/>
                  </a:cubicBezTo>
                  <a:cubicBezTo>
                    <a:pt x="17653" y="12700"/>
                    <a:pt x="20320" y="10668"/>
                    <a:pt x="23241" y="8763"/>
                  </a:cubicBezTo>
                  <a:cubicBezTo>
                    <a:pt x="26162" y="6858"/>
                    <a:pt x="29083" y="5207"/>
                    <a:pt x="32258" y="3937"/>
                  </a:cubicBezTo>
                  <a:cubicBezTo>
                    <a:pt x="35433" y="2667"/>
                    <a:pt x="38735" y="1651"/>
                    <a:pt x="42037" y="1016"/>
                  </a:cubicBezTo>
                  <a:cubicBezTo>
                    <a:pt x="45339" y="381"/>
                    <a:pt x="48768" y="0"/>
                    <a:pt x="52197" y="0"/>
                  </a:cubicBezTo>
                  <a:cubicBezTo>
                    <a:pt x="55626" y="0"/>
                    <a:pt x="59055" y="381"/>
                    <a:pt x="62357" y="1016"/>
                  </a:cubicBezTo>
                  <a:cubicBezTo>
                    <a:pt x="65659" y="1651"/>
                    <a:pt x="68961" y="2667"/>
                    <a:pt x="72136" y="3937"/>
                  </a:cubicBezTo>
                  <a:cubicBezTo>
                    <a:pt x="75311" y="5207"/>
                    <a:pt x="78359" y="6858"/>
                    <a:pt x="81153" y="8763"/>
                  </a:cubicBezTo>
                  <a:cubicBezTo>
                    <a:pt x="83947" y="10668"/>
                    <a:pt x="86614" y="12827"/>
                    <a:pt x="89154" y="15240"/>
                  </a:cubicBezTo>
                  <a:cubicBezTo>
                    <a:pt x="91694" y="17653"/>
                    <a:pt x="93726" y="20320"/>
                    <a:pt x="95631" y="23241"/>
                  </a:cubicBezTo>
                  <a:cubicBezTo>
                    <a:pt x="97536" y="26162"/>
                    <a:pt x="99187" y="29083"/>
                    <a:pt x="100457" y="32258"/>
                  </a:cubicBezTo>
                  <a:cubicBezTo>
                    <a:pt x="101727" y="35433"/>
                    <a:pt x="102743" y="38735"/>
                    <a:pt x="103378" y="42037"/>
                  </a:cubicBezTo>
                  <a:cubicBezTo>
                    <a:pt x="104013" y="45339"/>
                    <a:pt x="104394" y="48768"/>
                    <a:pt x="104394" y="5219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0874369" y="5155625"/>
            <a:ext cx="114300" cy="114300"/>
            <a:chOff x="0" y="0"/>
            <a:chExt cx="114300" cy="1143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14427" cy="114300"/>
            </a:xfrm>
            <a:custGeom>
              <a:avLst/>
              <a:gdLst/>
              <a:ahLst/>
              <a:cxnLst/>
              <a:rect l="l" t="t" r="r" b="b"/>
              <a:pathLst>
                <a:path w="114427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lnTo>
                    <a:pt x="108585" y="67310"/>
                  </a:lnTo>
                  <a:lnTo>
                    <a:pt x="113284" y="68199"/>
                  </a:lnTo>
                  <a:cubicBezTo>
                    <a:pt x="112522" y="71882"/>
                    <a:pt x="111506" y="75438"/>
                    <a:pt x="109982" y="78867"/>
                  </a:cubicBezTo>
                  <a:lnTo>
                    <a:pt x="105537" y="77089"/>
                  </a:lnTo>
                  <a:lnTo>
                    <a:pt x="109982" y="78867"/>
                  </a:lnTo>
                  <a:cubicBezTo>
                    <a:pt x="108585" y="82296"/>
                    <a:pt x="106807" y="85598"/>
                    <a:pt x="104648" y="88773"/>
                  </a:cubicBezTo>
                  <a:lnTo>
                    <a:pt x="104648" y="88773"/>
                  </a:lnTo>
                  <a:lnTo>
                    <a:pt x="104648" y="88773"/>
                  </a:lnTo>
                  <a:cubicBezTo>
                    <a:pt x="102616" y="91948"/>
                    <a:pt x="100203" y="94742"/>
                    <a:pt x="97536" y="97409"/>
                  </a:cubicBezTo>
                  <a:lnTo>
                    <a:pt x="94107" y="93980"/>
                  </a:lnTo>
                  <a:lnTo>
                    <a:pt x="97536" y="97409"/>
                  </a:lnTo>
                  <a:cubicBezTo>
                    <a:pt x="94869" y="100076"/>
                    <a:pt x="91948" y="102489"/>
                    <a:pt x="88900" y="104521"/>
                  </a:cubicBezTo>
                  <a:lnTo>
                    <a:pt x="86233" y="100584"/>
                  </a:lnTo>
                  <a:lnTo>
                    <a:pt x="88900" y="104521"/>
                  </a:lnTo>
                  <a:cubicBezTo>
                    <a:pt x="85725" y="106553"/>
                    <a:pt x="82423" y="108331"/>
                    <a:pt x="78994" y="109855"/>
                  </a:cubicBezTo>
                  <a:lnTo>
                    <a:pt x="77216" y="105410"/>
                  </a:lnTo>
                  <a:lnTo>
                    <a:pt x="78994" y="109855"/>
                  </a:lnTo>
                  <a:cubicBezTo>
                    <a:pt x="75565" y="111252"/>
                    <a:pt x="72009" y="112395"/>
                    <a:pt x="68326" y="113157"/>
                  </a:cubicBezTo>
                  <a:lnTo>
                    <a:pt x="67310" y="108585"/>
                  </a:lnTo>
                  <a:lnTo>
                    <a:pt x="68199" y="113284"/>
                  </a:lnTo>
                  <a:cubicBezTo>
                    <a:pt x="64643" y="113919"/>
                    <a:pt x="60960" y="114300"/>
                    <a:pt x="57150" y="114300"/>
                  </a:cubicBezTo>
                  <a:lnTo>
                    <a:pt x="57150" y="109474"/>
                  </a:lnTo>
                  <a:lnTo>
                    <a:pt x="57150" y="114300"/>
                  </a:lnTo>
                  <a:cubicBezTo>
                    <a:pt x="53340" y="114300"/>
                    <a:pt x="49657" y="113919"/>
                    <a:pt x="45974" y="113157"/>
                  </a:cubicBezTo>
                  <a:lnTo>
                    <a:pt x="46863" y="108458"/>
                  </a:lnTo>
                  <a:lnTo>
                    <a:pt x="45974" y="113157"/>
                  </a:lnTo>
                  <a:cubicBezTo>
                    <a:pt x="42291" y="112395"/>
                    <a:pt x="38735" y="111379"/>
                    <a:pt x="35306" y="109855"/>
                  </a:cubicBezTo>
                  <a:lnTo>
                    <a:pt x="37084" y="105410"/>
                  </a:lnTo>
                  <a:lnTo>
                    <a:pt x="35306" y="109855"/>
                  </a:lnTo>
                  <a:cubicBezTo>
                    <a:pt x="31877" y="108458"/>
                    <a:pt x="28575" y="106680"/>
                    <a:pt x="25400" y="104521"/>
                  </a:cubicBezTo>
                  <a:lnTo>
                    <a:pt x="25400" y="104521"/>
                  </a:lnTo>
                  <a:lnTo>
                    <a:pt x="25400" y="104521"/>
                  </a:lnTo>
                  <a:cubicBezTo>
                    <a:pt x="22225" y="102489"/>
                    <a:pt x="19431" y="100076"/>
                    <a:pt x="16764" y="97409"/>
                  </a:cubicBezTo>
                  <a:lnTo>
                    <a:pt x="20193" y="93980"/>
                  </a:lnTo>
                  <a:lnTo>
                    <a:pt x="16764" y="97409"/>
                  </a:lnTo>
                  <a:cubicBezTo>
                    <a:pt x="14097" y="94869"/>
                    <a:pt x="11684" y="92075"/>
                    <a:pt x="9652" y="88900"/>
                  </a:cubicBezTo>
                  <a:lnTo>
                    <a:pt x="13589" y="86233"/>
                  </a:lnTo>
                  <a:lnTo>
                    <a:pt x="9652" y="88900"/>
                  </a:lnTo>
                  <a:cubicBezTo>
                    <a:pt x="7493" y="85725"/>
                    <a:pt x="5842" y="82550"/>
                    <a:pt x="4318" y="78994"/>
                  </a:cubicBezTo>
                  <a:lnTo>
                    <a:pt x="8763" y="77216"/>
                  </a:lnTo>
                  <a:lnTo>
                    <a:pt x="4318" y="78994"/>
                  </a:lnTo>
                  <a:cubicBezTo>
                    <a:pt x="2921" y="75565"/>
                    <a:pt x="1778" y="72009"/>
                    <a:pt x="1016" y="68326"/>
                  </a:cubicBezTo>
                  <a:lnTo>
                    <a:pt x="1016" y="68326"/>
                  </a:lnTo>
                  <a:lnTo>
                    <a:pt x="1016" y="68326"/>
                  </a:lnTo>
                  <a:cubicBezTo>
                    <a:pt x="381" y="64643"/>
                    <a:pt x="0" y="60960"/>
                    <a:pt x="0" y="57150"/>
                  </a:cubicBezTo>
                  <a:lnTo>
                    <a:pt x="4826" y="57150"/>
                  </a:ln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lnTo>
                    <a:pt x="1143" y="45974"/>
                  </a:lnTo>
                  <a:lnTo>
                    <a:pt x="1143" y="45974"/>
                  </a:lnTo>
                  <a:cubicBezTo>
                    <a:pt x="1905" y="42291"/>
                    <a:pt x="2921" y="38735"/>
                    <a:pt x="4445" y="35306"/>
                  </a:cubicBezTo>
                  <a:lnTo>
                    <a:pt x="8890" y="37084"/>
                  </a:lnTo>
                  <a:lnTo>
                    <a:pt x="4445" y="35306"/>
                  </a:lnTo>
                  <a:cubicBezTo>
                    <a:pt x="5842" y="31750"/>
                    <a:pt x="7493" y="28575"/>
                    <a:pt x="9652" y="25400"/>
                  </a:cubicBezTo>
                  <a:lnTo>
                    <a:pt x="13589" y="28067"/>
                  </a:lnTo>
                  <a:lnTo>
                    <a:pt x="9652" y="25400"/>
                  </a:lnTo>
                  <a:cubicBezTo>
                    <a:pt x="11684" y="22225"/>
                    <a:pt x="14097" y="19431"/>
                    <a:pt x="16764" y="16764"/>
                  </a:cubicBezTo>
                  <a:lnTo>
                    <a:pt x="20193" y="20193"/>
                  </a:lnTo>
                  <a:lnTo>
                    <a:pt x="16764" y="16764"/>
                  </a:lnTo>
                  <a:cubicBezTo>
                    <a:pt x="19431" y="14097"/>
                    <a:pt x="22352" y="11684"/>
                    <a:pt x="25400" y="9652"/>
                  </a:cubicBezTo>
                  <a:lnTo>
                    <a:pt x="28067" y="13589"/>
                  </a:lnTo>
                  <a:lnTo>
                    <a:pt x="25400" y="9652"/>
                  </a:lnTo>
                  <a:cubicBezTo>
                    <a:pt x="28575" y="7620"/>
                    <a:pt x="31877" y="5842"/>
                    <a:pt x="35306" y="4318"/>
                  </a:cubicBezTo>
                  <a:lnTo>
                    <a:pt x="37084" y="8763"/>
                  </a:lnTo>
                  <a:lnTo>
                    <a:pt x="35306" y="4318"/>
                  </a:lnTo>
                  <a:cubicBezTo>
                    <a:pt x="38735" y="2921"/>
                    <a:pt x="42291" y="1778"/>
                    <a:pt x="45974" y="1016"/>
                  </a:cubicBezTo>
                  <a:lnTo>
                    <a:pt x="45974" y="1016"/>
                  </a:lnTo>
                  <a:lnTo>
                    <a:pt x="45974" y="1016"/>
                  </a:lnTo>
                  <a:cubicBezTo>
                    <a:pt x="49657" y="381"/>
                    <a:pt x="53340" y="0"/>
                    <a:pt x="57150" y="0"/>
                  </a:cubicBezTo>
                  <a:lnTo>
                    <a:pt x="57150" y="4826"/>
                  </a:lnTo>
                  <a:lnTo>
                    <a:pt x="57150" y="0"/>
                  </a:lnTo>
                  <a:cubicBezTo>
                    <a:pt x="60960" y="0"/>
                    <a:pt x="64643" y="381"/>
                    <a:pt x="68326" y="1143"/>
                  </a:cubicBezTo>
                  <a:lnTo>
                    <a:pt x="68326" y="1143"/>
                  </a:lnTo>
                  <a:lnTo>
                    <a:pt x="68326" y="1143"/>
                  </a:lnTo>
                  <a:cubicBezTo>
                    <a:pt x="72009" y="1905"/>
                    <a:pt x="75565" y="2921"/>
                    <a:pt x="78994" y="4445"/>
                  </a:cubicBezTo>
                  <a:lnTo>
                    <a:pt x="77216" y="8763"/>
                  </a:lnTo>
                  <a:lnTo>
                    <a:pt x="78994" y="4318"/>
                  </a:lnTo>
                  <a:cubicBezTo>
                    <a:pt x="82423" y="5715"/>
                    <a:pt x="85725" y="7493"/>
                    <a:pt x="88900" y="9652"/>
                  </a:cubicBezTo>
                  <a:lnTo>
                    <a:pt x="86233" y="13589"/>
                  </a:lnTo>
                  <a:lnTo>
                    <a:pt x="88900" y="9652"/>
                  </a:lnTo>
                  <a:cubicBezTo>
                    <a:pt x="92075" y="11684"/>
                    <a:pt x="94869" y="14097"/>
                    <a:pt x="97536" y="16764"/>
                  </a:cubicBezTo>
                  <a:lnTo>
                    <a:pt x="94107" y="20193"/>
                  </a:lnTo>
                  <a:lnTo>
                    <a:pt x="97536" y="16764"/>
                  </a:lnTo>
                  <a:cubicBezTo>
                    <a:pt x="100203" y="19431"/>
                    <a:pt x="102616" y="22352"/>
                    <a:pt x="104648" y="25400"/>
                  </a:cubicBezTo>
                  <a:lnTo>
                    <a:pt x="104648" y="25400"/>
                  </a:lnTo>
                  <a:lnTo>
                    <a:pt x="104648" y="25400"/>
                  </a:lnTo>
                  <a:cubicBezTo>
                    <a:pt x="106680" y="28575"/>
                    <a:pt x="108458" y="31877"/>
                    <a:pt x="109982" y="35306"/>
                  </a:cubicBezTo>
                  <a:lnTo>
                    <a:pt x="105537" y="37084"/>
                  </a:lnTo>
                  <a:lnTo>
                    <a:pt x="109982" y="35306"/>
                  </a:lnTo>
                  <a:cubicBezTo>
                    <a:pt x="111379" y="38735"/>
                    <a:pt x="112522" y="42291"/>
                    <a:pt x="113284" y="45974"/>
                  </a:cubicBezTo>
                  <a:lnTo>
                    <a:pt x="108585" y="46863"/>
                  </a:lnTo>
                  <a:lnTo>
                    <a:pt x="113284" y="45974"/>
                  </a:lnTo>
                  <a:cubicBezTo>
                    <a:pt x="114046" y="49657"/>
                    <a:pt x="114427" y="53340"/>
                    <a:pt x="114427" y="57150"/>
                  </a:cubicBezTo>
                  <a:lnTo>
                    <a:pt x="109474" y="57150"/>
                  </a:lnTo>
                  <a:lnTo>
                    <a:pt x="114300" y="57150"/>
                  </a:lnTo>
                  <a:moveTo>
                    <a:pt x="104775" y="57150"/>
                  </a:moveTo>
                  <a:cubicBezTo>
                    <a:pt x="104775" y="53975"/>
                    <a:pt x="104521" y="50927"/>
                    <a:pt x="103886" y="47879"/>
                  </a:cubicBezTo>
                  <a:lnTo>
                    <a:pt x="103886" y="47879"/>
                  </a:lnTo>
                  <a:lnTo>
                    <a:pt x="103886" y="47879"/>
                  </a:lnTo>
                  <a:cubicBezTo>
                    <a:pt x="103251" y="44831"/>
                    <a:pt x="102362" y="41783"/>
                    <a:pt x="101219" y="38989"/>
                  </a:cubicBezTo>
                  <a:lnTo>
                    <a:pt x="101219" y="38989"/>
                  </a:lnTo>
                  <a:lnTo>
                    <a:pt x="101219" y="38989"/>
                  </a:lnTo>
                  <a:cubicBezTo>
                    <a:pt x="100076" y="36068"/>
                    <a:pt x="98552" y="33401"/>
                    <a:pt x="96774" y="30734"/>
                  </a:cubicBezTo>
                  <a:lnTo>
                    <a:pt x="100711" y="28067"/>
                  </a:lnTo>
                  <a:lnTo>
                    <a:pt x="96774" y="30734"/>
                  </a:lnTo>
                  <a:cubicBezTo>
                    <a:pt x="94996" y="28194"/>
                    <a:pt x="93091" y="25781"/>
                    <a:pt x="90805" y="23495"/>
                  </a:cubicBezTo>
                  <a:lnTo>
                    <a:pt x="90805" y="23495"/>
                  </a:lnTo>
                  <a:lnTo>
                    <a:pt x="90805" y="23495"/>
                  </a:lnTo>
                  <a:cubicBezTo>
                    <a:pt x="88646" y="21336"/>
                    <a:pt x="86233" y="19304"/>
                    <a:pt x="83566" y="17526"/>
                  </a:cubicBezTo>
                  <a:lnTo>
                    <a:pt x="83566" y="17526"/>
                  </a:lnTo>
                  <a:lnTo>
                    <a:pt x="83566" y="17526"/>
                  </a:lnTo>
                  <a:cubicBezTo>
                    <a:pt x="81026" y="15748"/>
                    <a:pt x="78232" y="14351"/>
                    <a:pt x="75311" y="13081"/>
                  </a:cubicBezTo>
                  <a:lnTo>
                    <a:pt x="75311" y="13081"/>
                  </a:lnTo>
                  <a:lnTo>
                    <a:pt x="75311" y="13081"/>
                  </a:lnTo>
                  <a:cubicBezTo>
                    <a:pt x="72517" y="11938"/>
                    <a:pt x="69469" y="11049"/>
                    <a:pt x="66421" y="10414"/>
                  </a:cubicBezTo>
                  <a:lnTo>
                    <a:pt x="67310" y="5715"/>
                  </a:lnTo>
                  <a:lnTo>
                    <a:pt x="66421" y="10414"/>
                  </a:lnTo>
                  <a:cubicBezTo>
                    <a:pt x="63373" y="9779"/>
                    <a:pt x="60325" y="9525"/>
                    <a:pt x="57150" y="9525"/>
                  </a:cubicBezTo>
                  <a:cubicBezTo>
                    <a:pt x="53975" y="9525"/>
                    <a:pt x="50927" y="9779"/>
                    <a:pt x="47879" y="10414"/>
                  </a:cubicBezTo>
                  <a:lnTo>
                    <a:pt x="46990" y="5715"/>
                  </a:lnTo>
                  <a:lnTo>
                    <a:pt x="47879" y="10414"/>
                  </a:lnTo>
                  <a:cubicBezTo>
                    <a:pt x="44831" y="11049"/>
                    <a:pt x="41783" y="11938"/>
                    <a:pt x="38989" y="13081"/>
                  </a:cubicBezTo>
                  <a:lnTo>
                    <a:pt x="38989" y="13081"/>
                  </a:lnTo>
                  <a:lnTo>
                    <a:pt x="38989" y="13081"/>
                  </a:lnTo>
                  <a:cubicBezTo>
                    <a:pt x="36068" y="14224"/>
                    <a:pt x="33401" y="15748"/>
                    <a:pt x="30734" y="17526"/>
                  </a:cubicBezTo>
                  <a:cubicBezTo>
                    <a:pt x="28067" y="19304"/>
                    <a:pt x="25781" y="21209"/>
                    <a:pt x="23495" y="23495"/>
                  </a:cubicBezTo>
                  <a:lnTo>
                    <a:pt x="23495" y="23495"/>
                  </a:lnTo>
                  <a:lnTo>
                    <a:pt x="23495" y="23495"/>
                  </a:lnTo>
                  <a:cubicBezTo>
                    <a:pt x="21336" y="25654"/>
                    <a:pt x="19304" y="28067"/>
                    <a:pt x="17526" y="30734"/>
                  </a:cubicBezTo>
                  <a:lnTo>
                    <a:pt x="17526" y="30734"/>
                  </a:lnTo>
                  <a:lnTo>
                    <a:pt x="17526" y="30734"/>
                  </a:lnTo>
                  <a:cubicBezTo>
                    <a:pt x="15748" y="33274"/>
                    <a:pt x="14351" y="36068"/>
                    <a:pt x="13081" y="38989"/>
                  </a:cubicBezTo>
                  <a:cubicBezTo>
                    <a:pt x="11811" y="41910"/>
                    <a:pt x="10922" y="44831"/>
                    <a:pt x="10414" y="47879"/>
                  </a:cubicBezTo>
                  <a:lnTo>
                    <a:pt x="5715" y="46990"/>
                  </a:lnTo>
                  <a:lnTo>
                    <a:pt x="10414" y="47879"/>
                  </a:lnTo>
                  <a:cubicBezTo>
                    <a:pt x="9779" y="50927"/>
                    <a:pt x="9525" y="54102"/>
                    <a:pt x="9525" y="57150"/>
                  </a:cubicBezTo>
                  <a:cubicBezTo>
                    <a:pt x="9525" y="60198"/>
                    <a:pt x="9779" y="63373"/>
                    <a:pt x="10414" y="66421"/>
                  </a:cubicBezTo>
                  <a:lnTo>
                    <a:pt x="5715" y="67310"/>
                  </a:lnTo>
                  <a:lnTo>
                    <a:pt x="10414" y="66421"/>
                  </a:lnTo>
                  <a:cubicBezTo>
                    <a:pt x="11049" y="69469"/>
                    <a:pt x="11938" y="72517"/>
                    <a:pt x="13081" y="75311"/>
                  </a:cubicBezTo>
                  <a:cubicBezTo>
                    <a:pt x="14224" y="78105"/>
                    <a:pt x="15748" y="80899"/>
                    <a:pt x="17526" y="83566"/>
                  </a:cubicBezTo>
                  <a:lnTo>
                    <a:pt x="17526" y="83566"/>
                  </a:lnTo>
                  <a:lnTo>
                    <a:pt x="17526" y="83566"/>
                  </a:lnTo>
                  <a:cubicBezTo>
                    <a:pt x="19304" y="86106"/>
                    <a:pt x="21209" y="88519"/>
                    <a:pt x="23495" y="90805"/>
                  </a:cubicBezTo>
                  <a:cubicBezTo>
                    <a:pt x="25781" y="93091"/>
                    <a:pt x="28067" y="94996"/>
                    <a:pt x="30734" y="96774"/>
                  </a:cubicBezTo>
                  <a:lnTo>
                    <a:pt x="28067" y="100711"/>
                  </a:lnTo>
                  <a:lnTo>
                    <a:pt x="30734" y="96774"/>
                  </a:lnTo>
                  <a:cubicBezTo>
                    <a:pt x="33274" y="98552"/>
                    <a:pt x="36068" y="99949"/>
                    <a:pt x="38989" y="101219"/>
                  </a:cubicBezTo>
                  <a:lnTo>
                    <a:pt x="38989" y="101219"/>
                  </a:lnTo>
                  <a:lnTo>
                    <a:pt x="38989" y="101219"/>
                  </a:lnTo>
                  <a:cubicBezTo>
                    <a:pt x="41910" y="102362"/>
                    <a:pt x="44831" y="103378"/>
                    <a:pt x="47879" y="103886"/>
                  </a:cubicBezTo>
                  <a:lnTo>
                    <a:pt x="47879" y="103886"/>
                  </a:lnTo>
                  <a:lnTo>
                    <a:pt x="47879" y="103886"/>
                  </a:lnTo>
                  <a:cubicBezTo>
                    <a:pt x="50927" y="104521"/>
                    <a:pt x="54102" y="104775"/>
                    <a:pt x="57150" y="104775"/>
                  </a:cubicBezTo>
                  <a:cubicBezTo>
                    <a:pt x="60198" y="104775"/>
                    <a:pt x="63373" y="104521"/>
                    <a:pt x="66421" y="103886"/>
                  </a:cubicBezTo>
                  <a:lnTo>
                    <a:pt x="66421" y="103886"/>
                  </a:lnTo>
                  <a:lnTo>
                    <a:pt x="66421" y="103886"/>
                  </a:lnTo>
                  <a:cubicBezTo>
                    <a:pt x="69469" y="103251"/>
                    <a:pt x="72517" y="102362"/>
                    <a:pt x="75311" y="101219"/>
                  </a:cubicBezTo>
                  <a:lnTo>
                    <a:pt x="75311" y="101219"/>
                  </a:lnTo>
                  <a:lnTo>
                    <a:pt x="75311" y="101219"/>
                  </a:lnTo>
                  <a:cubicBezTo>
                    <a:pt x="78232" y="100076"/>
                    <a:pt x="80899" y="98552"/>
                    <a:pt x="83566" y="96774"/>
                  </a:cubicBezTo>
                  <a:lnTo>
                    <a:pt x="83566" y="96774"/>
                  </a:lnTo>
                  <a:lnTo>
                    <a:pt x="83566" y="96774"/>
                  </a:lnTo>
                  <a:cubicBezTo>
                    <a:pt x="86106" y="94996"/>
                    <a:pt x="88519" y="93091"/>
                    <a:pt x="90805" y="90805"/>
                  </a:cubicBezTo>
                  <a:cubicBezTo>
                    <a:pt x="93091" y="88519"/>
                    <a:pt x="94996" y="86233"/>
                    <a:pt x="96774" y="83566"/>
                  </a:cubicBezTo>
                  <a:lnTo>
                    <a:pt x="100711" y="86233"/>
                  </a:lnTo>
                  <a:lnTo>
                    <a:pt x="96774" y="83566"/>
                  </a:lnTo>
                  <a:cubicBezTo>
                    <a:pt x="98552" y="81026"/>
                    <a:pt x="99949" y="78232"/>
                    <a:pt x="101219" y="75311"/>
                  </a:cubicBezTo>
                  <a:lnTo>
                    <a:pt x="101219" y="75311"/>
                  </a:lnTo>
                  <a:lnTo>
                    <a:pt x="101219" y="75311"/>
                  </a:lnTo>
                  <a:cubicBezTo>
                    <a:pt x="102362" y="72390"/>
                    <a:pt x="103378" y="69469"/>
                    <a:pt x="103886" y="66421"/>
                  </a:cubicBezTo>
                  <a:lnTo>
                    <a:pt x="103886" y="66421"/>
                  </a:lnTo>
                  <a:lnTo>
                    <a:pt x="103886" y="66421"/>
                  </a:lnTo>
                  <a:cubicBezTo>
                    <a:pt x="104521" y="63373"/>
                    <a:pt x="104775" y="60198"/>
                    <a:pt x="104775" y="5715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" name="Group 18"/>
          <p:cNvGrpSpPr>
            <a:grpSpLocks noChangeAspect="1"/>
          </p:cNvGrpSpPr>
          <p:nvPr/>
        </p:nvGrpSpPr>
        <p:grpSpPr>
          <a:xfrm>
            <a:off x="10874369" y="5755700"/>
            <a:ext cx="114300" cy="114300"/>
            <a:chOff x="0" y="0"/>
            <a:chExt cx="114300" cy="11430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4427" cy="114300"/>
            </a:xfrm>
            <a:custGeom>
              <a:avLst/>
              <a:gdLst/>
              <a:ahLst/>
              <a:cxnLst/>
              <a:rect l="l" t="t" r="r" b="b"/>
              <a:pathLst>
                <a:path w="114427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lnTo>
                    <a:pt x="113157" y="68326"/>
                  </a:lnTo>
                  <a:lnTo>
                    <a:pt x="113157" y="68326"/>
                  </a:lnTo>
                  <a:cubicBezTo>
                    <a:pt x="112395" y="72009"/>
                    <a:pt x="111379" y="75565"/>
                    <a:pt x="109855" y="78994"/>
                  </a:cubicBezTo>
                  <a:lnTo>
                    <a:pt x="105410" y="77216"/>
                  </a:lnTo>
                  <a:lnTo>
                    <a:pt x="109855" y="78994"/>
                  </a:lnTo>
                  <a:cubicBezTo>
                    <a:pt x="108458" y="82423"/>
                    <a:pt x="106680" y="85725"/>
                    <a:pt x="104521" y="88900"/>
                  </a:cubicBezTo>
                  <a:lnTo>
                    <a:pt x="104521" y="88900"/>
                  </a:lnTo>
                  <a:lnTo>
                    <a:pt x="104521" y="88900"/>
                  </a:lnTo>
                  <a:cubicBezTo>
                    <a:pt x="102489" y="92075"/>
                    <a:pt x="100076" y="94869"/>
                    <a:pt x="97409" y="97536"/>
                  </a:cubicBezTo>
                  <a:lnTo>
                    <a:pt x="97409" y="97536"/>
                  </a:lnTo>
                  <a:lnTo>
                    <a:pt x="97409" y="97536"/>
                  </a:lnTo>
                  <a:cubicBezTo>
                    <a:pt x="94742" y="100203"/>
                    <a:pt x="91821" y="102616"/>
                    <a:pt x="88773" y="104648"/>
                  </a:cubicBezTo>
                  <a:lnTo>
                    <a:pt x="86106" y="100711"/>
                  </a:lnTo>
                  <a:lnTo>
                    <a:pt x="88773" y="104648"/>
                  </a:lnTo>
                  <a:cubicBezTo>
                    <a:pt x="85598" y="106680"/>
                    <a:pt x="82296" y="108458"/>
                    <a:pt x="78867" y="109982"/>
                  </a:cubicBezTo>
                  <a:lnTo>
                    <a:pt x="77089" y="105537"/>
                  </a:lnTo>
                  <a:lnTo>
                    <a:pt x="78867" y="109982"/>
                  </a:lnTo>
                  <a:cubicBezTo>
                    <a:pt x="75438" y="111379"/>
                    <a:pt x="71882" y="112522"/>
                    <a:pt x="68199" y="113284"/>
                  </a:cubicBezTo>
                  <a:lnTo>
                    <a:pt x="67310" y="108585"/>
                  </a:lnTo>
                  <a:lnTo>
                    <a:pt x="68199" y="113284"/>
                  </a:lnTo>
                  <a:cubicBezTo>
                    <a:pt x="64643" y="113919"/>
                    <a:pt x="60960" y="114300"/>
                    <a:pt x="57150" y="114300"/>
                  </a:cubicBezTo>
                  <a:lnTo>
                    <a:pt x="57150" y="109474"/>
                  </a:lnTo>
                  <a:lnTo>
                    <a:pt x="57150" y="114300"/>
                  </a:lnTo>
                  <a:cubicBezTo>
                    <a:pt x="53340" y="114300"/>
                    <a:pt x="49657" y="113919"/>
                    <a:pt x="45974" y="113157"/>
                  </a:cubicBezTo>
                  <a:lnTo>
                    <a:pt x="46863" y="108458"/>
                  </a:lnTo>
                  <a:lnTo>
                    <a:pt x="45974" y="113157"/>
                  </a:lnTo>
                  <a:cubicBezTo>
                    <a:pt x="42291" y="112395"/>
                    <a:pt x="38735" y="111379"/>
                    <a:pt x="35306" y="109855"/>
                  </a:cubicBezTo>
                  <a:lnTo>
                    <a:pt x="37084" y="105410"/>
                  </a:lnTo>
                  <a:lnTo>
                    <a:pt x="35306" y="109855"/>
                  </a:lnTo>
                  <a:cubicBezTo>
                    <a:pt x="31877" y="108458"/>
                    <a:pt x="28575" y="106680"/>
                    <a:pt x="25400" y="104521"/>
                  </a:cubicBezTo>
                  <a:lnTo>
                    <a:pt x="25400" y="104521"/>
                  </a:lnTo>
                  <a:lnTo>
                    <a:pt x="25400" y="104521"/>
                  </a:lnTo>
                  <a:cubicBezTo>
                    <a:pt x="22225" y="102489"/>
                    <a:pt x="19431" y="100076"/>
                    <a:pt x="16764" y="97409"/>
                  </a:cubicBezTo>
                  <a:lnTo>
                    <a:pt x="16764" y="97409"/>
                  </a:lnTo>
                  <a:lnTo>
                    <a:pt x="16764" y="97409"/>
                  </a:lnTo>
                  <a:cubicBezTo>
                    <a:pt x="14097" y="94869"/>
                    <a:pt x="11684" y="92075"/>
                    <a:pt x="9652" y="88900"/>
                  </a:cubicBezTo>
                  <a:lnTo>
                    <a:pt x="13589" y="86233"/>
                  </a:lnTo>
                  <a:lnTo>
                    <a:pt x="9652" y="88900"/>
                  </a:lnTo>
                  <a:cubicBezTo>
                    <a:pt x="7493" y="85725"/>
                    <a:pt x="5842" y="82550"/>
                    <a:pt x="4318" y="78994"/>
                  </a:cubicBezTo>
                  <a:lnTo>
                    <a:pt x="8763" y="77216"/>
                  </a:lnTo>
                  <a:lnTo>
                    <a:pt x="4318" y="78994"/>
                  </a:lnTo>
                  <a:cubicBezTo>
                    <a:pt x="2921" y="75565"/>
                    <a:pt x="1778" y="72009"/>
                    <a:pt x="1016" y="68326"/>
                  </a:cubicBezTo>
                  <a:lnTo>
                    <a:pt x="1016" y="68326"/>
                  </a:lnTo>
                  <a:lnTo>
                    <a:pt x="1016" y="68326"/>
                  </a:lnTo>
                  <a:cubicBezTo>
                    <a:pt x="381" y="64643"/>
                    <a:pt x="0" y="60960"/>
                    <a:pt x="0" y="57150"/>
                  </a:cubicBezTo>
                  <a:lnTo>
                    <a:pt x="4826" y="57150"/>
                  </a:ln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lnTo>
                    <a:pt x="1143" y="45974"/>
                  </a:lnTo>
                  <a:lnTo>
                    <a:pt x="1143" y="45974"/>
                  </a:lnTo>
                  <a:cubicBezTo>
                    <a:pt x="1905" y="42291"/>
                    <a:pt x="2921" y="38735"/>
                    <a:pt x="4445" y="35306"/>
                  </a:cubicBezTo>
                  <a:lnTo>
                    <a:pt x="8890" y="37084"/>
                  </a:lnTo>
                  <a:lnTo>
                    <a:pt x="4445" y="35306"/>
                  </a:lnTo>
                  <a:cubicBezTo>
                    <a:pt x="5842" y="31750"/>
                    <a:pt x="7493" y="28575"/>
                    <a:pt x="9652" y="25400"/>
                  </a:cubicBezTo>
                  <a:lnTo>
                    <a:pt x="13589" y="28067"/>
                  </a:lnTo>
                  <a:lnTo>
                    <a:pt x="9652" y="25400"/>
                  </a:lnTo>
                  <a:cubicBezTo>
                    <a:pt x="11684" y="22225"/>
                    <a:pt x="14097" y="19431"/>
                    <a:pt x="16764" y="16764"/>
                  </a:cubicBezTo>
                  <a:lnTo>
                    <a:pt x="20193" y="20193"/>
                  </a:lnTo>
                  <a:lnTo>
                    <a:pt x="16764" y="16764"/>
                  </a:lnTo>
                  <a:cubicBezTo>
                    <a:pt x="19431" y="14097"/>
                    <a:pt x="22352" y="11684"/>
                    <a:pt x="25400" y="9652"/>
                  </a:cubicBezTo>
                  <a:lnTo>
                    <a:pt x="28067" y="13589"/>
                  </a:lnTo>
                  <a:lnTo>
                    <a:pt x="25400" y="9652"/>
                  </a:lnTo>
                  <a:cubicBezTo>
                    <a:pt x="28575" y="7620"/>
                    <a:pt x="31877" y="5842"/>
                    <a:pt x="35306" y="4318"/>
                  </a:cubicBezTo>
                  <a:lnTo>
                    <a:pt x="37084" y="8763"/>
                  </a:lnTo>
                  <a:lnTo>
                    <a:pt x="35306" y="4318"/>
                  </a:lnTo>
                  <a:cubicBezTo>
                    <a:pt x="38735" y="2921"/>
                    <a:pt x="42291" y="1778"/>
                    <a:pt x="45974" y="1016"/>
                  </a:cubicBezTo>
                  <a:lnTo>
                    <a:pt x="45974" y="1016"/>
                  </a:lnTo>
                  <a:lnTo>
                    <a:pt x="45974" y="1016"/>
                  </a:lnTo>
                  <a:cubicBezTo>
                    <a:pt x="49657" y="381"/>
                    <a:pt x="53340" y="0"/>
                    <a:pt x="57150" y="0"/>
                  </a:cubicBezTo>
                  <a:lnTo>
                    <a:pt x="57150" y="4826"/>
                  </a:lnTo>
                  <a:lnTo>
                    <a:pt x="57150" y="0"/>
                  </a:lnTo>
                  <a:cubicBezTo>
                    <a:pt x="60960" y="0"/>
                    <a:pt x="64643" y="381"/>
                    <a:pt x="68326" y="1143"/>
                  </a:cubicBezTo>
                  <a:lnTo>
                    <a:pt x="68326" y="1143"/>
                  </a:lnTo>
                  <a:lnTo>
                    <a:pt x="68326" y="1143"/>
                  </a:lnTo>
                  <a:cubicBezTo>
                    <a:pt x="72009" y="1905"/>
                    <a:pt x="75565" y="2921"/>
                    <a:pt x="78994" y="4445"/>
                  </a:cubicBezTo>
                  <a:lnTo>
                    <a:pt x="78994" y="4445"/>
                  </a:lnTo>
                  <a:lnTo>
                    <a:pt x="78994" y="4445"/>
                  </a:lnTo>
                  <a:cubicBezTo>
                    <a:pt x="82423" y="5842"/>
                    <a:pt x="85725" y="7620"/>
                    <a:pt x="88900" y="9779"/>
                  </a:cubicBezTo>
                  <a:lnTo>
                    <a:pt x="86233" y="13716"/>
                  </a:lnTo>
                  <a:lnTo>
                    <a:pt x="88900" y="9652"/>
                  </a:lnTo>
                  <a:cubicBezTo>
                    <a:pt x="92075" y="11684"/>
                    <a:pt x="94869" y="14097"/>
                    <a:pt x="97536" y="16764"/>
                  </a:cubicBezTo>
                  <a:lnTo>
                    <a:pt x="94107" y="20193"/>
                  </a:lnTo>
                  <a:lnTo>
                    <a:pt x="97536" y="16764"/>
                  </a:lnTo>
                  <a:cubicBezTo>
                    <a:pt x="100203" y="19431"/>
                    <a:pt x="102616" y="22352"/>
                    <a:pt x="104648" y="25400"/>
                  </a:cubicBezTo>
                  <a:lnTo>
                    <a:pt x="104648" y="25400"/>
                  </a:lnTo>
                  <a:lnTo>
                    <a:pt x="104648" y="25400"/>
                  </a:lnTo>
                  <a:cubicBezTo>
                    <a:pt x="106680" y="28575"/>
                    <a:pt x="108458" y="31877"/>
                    <a:pt x="109982" y="35306"/>
                  </a:cubicBezTo>
                  <a:lnTo>
                    <a:pt x="105537" y="37084"/>
                  </a:lnTo>
                  <a:lnTo>
                    <a:pt x="109982" y="35306"/>
                  </a:lnTo>
                  <a:cubicBezTo>
                    <a:pt x="111379" y="38735"/>
                    <a:pt x="112522" y="42291"/>
                    <a:pt x="113284" y="45974"/>
                  </a:cubicBezTo>
                  <a:lnTo>
                    <a:pt x="108585" y="46863"/>
                  </a:lnTo>
                  <a:lnTo>
                    <a:pt x="113284" y="45974"/>
                  </a:lnTo>
                  <a:cubicBezTo>
                    <a:pt x="114046" y="49657"/>
                    <a:pt x="114427" y="53340"/>
                    <a:pt x="114427" y="57150"/>
                  </a:cubicBezTo>
                  <a:lnTo>
                    <a:pt x="109474" y="57150"/>
                  </a:lnTo>
                  <a:lnTo>
                    <a:pt x="114300" y="57150"/>
                  </a:lnTo>
                  <a:moveTo>
                    <a:pt x="104775" y="57150"/>
                  </a:moveTo>
                  <a:cubicBezTo>
                    <a:pt x="104775" y="53975"/>
                    <a:pt x="104521" y="50927"/>
                    <a:pt x="103886" y="47879"/>
                  </a:cubicBezTo>
                  <a:cubicBezTo>
                    <a:pt x="103251" y="44831"/>
                    <a:pt x="102362" y="41783"/>
                    <a:pt x="101219" y="38989"/>
                  </a:cubicBezTo>
                  <a:lnTo>
                    <a:pt x="101219" y="38989"/>
                  </a:lnTo>
                  <a:lnTo>
                    <a:pt x="101219" y="38989"/>
                  </a:lnTo>
                  <a:cubicBezTo>
                    <a:pt x="100076" y="36068"/>
                    <a:pt x="98552" y="33401"/>
                    <a:pt x="96774" y="30734"/>
                  </a:cubicBezTo>
                  <a:lnTo>
                    <a:pt x="100711" y="28067"/>
                  </a:lnTo>
                  <a:lnTo>
                    <a:pt x="96774" y="30734"/>
                  </a:lnTo>
                  <a:cubicBezTo>
                    <a:pt x="94996" y="28194"/>
                    <a:pt x="93091" y="25781"/>
                    <a:pt x="90805" y="23495"/>
                  </a:cubicBezTo>
                  <a:lnTo>
                    <a:pt x="90805" y="23495"/>
                  </a:lnTo>
                  <a:lnTo>
                    <a:pt x="90805" y="23495"/>
                  </a:lnTo>
                  <a:cubicBezTo>
                    <a:pt x="88646" y="21336"/>
                    <a:pt x="86233" y="19304"/>
                    <a:pt x="83566" y="17526"/>
                  </a:cubicBezTo>
                  <a:lnTo>
                    <a:pt x="83566" y="17526"/>
                  </a:lnTo>
                  <a:lnTo>
                    <a:pt x="83566" y="17526"/>
                  </a:lnTo>
                  <a:cubicBezTo>
                    <a:pt x="81026" y="15748"/>
                    <a:pt x="78232" y="14351"/>
                    <a:pt x="75311" y="13081"/>
                  </a:cubicBezTo>
                  <a:lnTo>
                    <a:pt x="77216" y="8763"/>
                  </a:lnTo>
                  <a:lnTo>
                    <a:pt x="75438" y="13208"/>
                  </a:lnTo>
                  <a:cubicBezTo>
                    <a:pt x="72517" y="11938"/>
                    <a:pt x="69469" y="11049"/>
                    <a:pt x="66421" y="10414"/>
                  </a:cubicBezTo>
                  <a:lnTo>
                    <a:pt x="67310" y="5715"/>
                  </a:lnTo>
                  <a:lnTo>
                    <a:pt x="66421" y="10414"/>
                  </a:lnTo>
                  <a:cubicBezTo>
                    <a:pt x="63373" y="9779"/>
                    <a:pt x="60325" y="9525"/>
                    <a:pt x="57150" y="9525"/>
                  </a:cubicBezTo>
                  <a:cubicBezTo>
                    <a:pt x="53975" y="9525"/>
                    <a:pt x="50927" y="9779"/>
                    <a:pt x="47879" y="10414"/>
                  </a:cubicBezTo>
                  <a:lnTo>
                    <a:pt x="46990" y="5715"/>
                  </a:lnTo>
                  <a:lnTo>
                    <a:pt x="47879" y="10414"/>
                  </a:lnTo>
                  <a:cubicBezTo>
                    <a:pt x="44831" y="11049"/>
                    <a:pt x="41783" y="11938"/>
                    <a:pt x="38989" y="13081"/>
                  </a:cubicBezTo>
                  <a:lnTo>
                    <a:pt x="38989" y="13081"/>
                  </a:lnTo>
                  <a:lnTo>
                    <a:pt x="38989" y="13081"/>
                  </a:lnTo>
                  <a:cubicBezTo>
                    <a:pt x="36068" y="14224"/>
                    <a:pt x="33401" y="15748"/>
                    <a:pt x="30734" y="17526"/>
                  </a:cubicBezTo>
                  <a:cubicBezTo>
                    <a:pt x="28067" y="19304"/>
                    <a:pt x="25781" y="21209"/>
                    <a:pt x="23495" y="23495"/>
                  </a:cubicBezTo>
                  <a:lnTo>
                    <a:pt x="23495" y="23495"/>
                  </a:lnTo>
                  <a:lnTo>
                    <a:pt x="23495" y="23495"/>
                  </a:lnTo>
                  <a:cubicBezTo>
                    <a:pt x="21336" y="25654"/>
                    <a:pt x="19304" y="28067"/>
                    <a:pt x="17526" y="30734"/>
                  </a:cubicBezTo>
                  <a:lnTo>
                    <a:pt x="17526" y="30734"/>
                  </a:lnTo>
                  <a:lnTo>
                    <a:pt x="17526" y="30734"/>
                  </a:lnTo>
                  <a:cubicBezTo>
                    <a:pt x="15748" y="33274"/>
                    <a:pt x="14351" y="36068"/>
                    <a:pt x="13081" y="38989"/>
                  </a:cubicBezTo>
                  <a:cubicBezTo>
                    <a:pt x="11811" y="41910"/>
                    <a:pt x="10922" y="44831"/>
                    <a:pt x="10414" y="47879"/>
                  </a:cubicBezTo>
                  <a:lnTo>
                    <a:pt x="5715" y="46990"/>
                  </a:lnTo>
                  <a:lnTo>
                    <a:pt x="10414" y="47879"/>
                  </a:lnTo>
                  <a:cubicBezTo>
                    <a:pt x="9779" y="50927"/>
                    <a:pt x="9525" y="54102"/>
                    <a:pt x="9525" y="57150"/>
                  </a:cubicBezTo>
                  <a:cubicBezTo>
                    <a:pt x="9525" y="60198"/>
                    <a:pt x="9779" y="63373"/>
                    <a:pt x="10414" y="66421"/>
                  </a:cubicBezTo>
                  <a:lnTo>
                    <a:pt x="5715" y="67310"/>
                  </a:lnTo>
                  <a:lnTo>
                    <a:pt x="10414" y="66421"/>
                  </a:lnTo>
                  <a:cubicBezTo>
                    <a:pt x="11049" y="69469"/>
                    <a:pt x="11938" y="72517"/>
                    <a:pt x="13081" y="75311"/>
                  </a:cubicBezTo>
                  <a:cubicBezTo>
                    <a:pt x="14224" y="78105"/>
                    <a:pt x="15748" y="80899"/>
                    <a:pt x="17526" y="83566"/>
                  </a:cubicBezTo>
                  <a:lnTo>
                    <a:pt x="17526" y="83566"/>
                  </a:lnTo>
                  <a:lnTo>
                    <a:pt x="17526" y="83566"/>
                  </a:lnTo>
                  <a:cubicBezTo>
                    <a:pt x="19304" y="86106"/>
                    <a:pt x="21209" y="88519"/>
                    <a:pt x="23495" y="90805"/>
                  </a:cubicBezTo>
                  <a:lnTo>
                    <a:pt x="20066" y="94234"/>
                  </a:lnTo>
                  <a:lnTo>
                    <a:pt x="23495" y="90805"/>
                  </a:lnTo>
                  <a:cubicBezTo>
                    <a:pt x="25654" y="92964"/>
                    <a:pt x="28067" y="94996"/>
                    <a:pt x="30734" y="96774"/>
                  </a:cubicBezTo>
                  <a:lnTo>
                    <a:pt x="28067" y="100711"/>
                  </a:lnTo>
                  <a:lnTo>
                    <a:pt x="30734" y="96774"/>
                  </a:lnTo>
                  <a:cubicBezTo>
                    <a:pt x="33274" y="98552"/>
                    <a:pt x="36068" y="99949"/>
                    <a:pt x="38989" y="101219"/>
                  </a:cubicBezTo>
                  <a:lnTo>
                    <a:pt x="38989" y="101219"/>
                  </a:lnTo>
                  <a:lnTo>
                    <a:pt x="38989" y="101219"/>
                  </a:lnTo>
                  <a:cubicBezTo>
                    <a:pt x="41910" y="102362"/>
                    <a:pt x="44831" y="103378"/>
                    <a:pt x="47879" y="103886"/>
                  </a:cubicBezTo>
                  <a:lnTo>
                    <a:pt x="47879" y="103886"/>
                  </a:lnTo>
                  <a:lnTo>
                    <a:pt x="47879" y="103886"/>
                  </a:lnTo>
                  <a:cubicBezTo>
                    <a:pt x="50927" y="104521"/>
                    <a:pt x="54102" y="104775"/>
                    <a:pt x="57150" y="104775"/>
                  </a:cubicBezTo>
                  <a:cubicBezTo>
                    <a:pt x="60198" y="104775"/>
                    <a:pt x="63373" y="104521"/>
                    <a:pt x="66421" y="103886"/>
                  </a:cubicBezTo>
                  <a:lnTo>
                    <a:pt x="66421" y="103886"/>
                  </a:lnTo>
                  <a:lnTo>
                    <a:pt x="66421" y="103886"/>
                  </a:lnTo>
                  <a:cubicBezTo>
                    <a:pt x="69469" y="103251"/>
                    <a:pt x="72517" y="102362"/>
                    <a:pt x="75311" y="101219"/>
                  </a:cubicBezTo>
                  <a:lnTo>
                    <a:pt x="75311" y="101219"/>
                  </a:lnTo>
                  <a:lnTo>
                    <a:pt x="75311" y="101219"/>
                  </a:lnTo>
                  <a:cubicBezTo>
                    <a:pt x="78232" y="100076"/>
                    <a:pt x="80899" y="98552"/>
                    <a:pt x="83566" y="96774"/>
                  </a:cubicBezTo>
                  <a:lnTo>
                    <a:pt x="83566" y="96774"/>
                  </a:lnTo>
                  <a:lnTo>
                    <a:pt x="83566" y="96774"/>
                  </a:lnTo>
                  <a:cubicBezTo>
                    <a:pt x="86106" y="94996"/>
                    <a:pt x="88519" y="93091"/>
                    <a:pt x="90805" y="90805"/>
                  </a:cubicBezTo>
                  <a:lnTo>
                    <a:pt x="94234" y="94234"/>
                  </a:lnTo>
                  <a:lnTo>
                    <a:pt x="90805" y="90805"/>
                  </a:lnTo>
                  <a:cubicBezTo>
                    <a:pt x="92964" y="88646"/>
                    <a:pt x="94996" y="86233"/>
                    <a:pt x="96774" y="83566"/>
                  </a:cubicBezTo>
                  <a:lnTo>
                    <a:pt x="100711" y="86233"/>
                  </a:lnTo>
                  <a:lnTo>
                    <a:pt x="96774" y="83566"/>
                  </a:lnTo>
                  <a:cubicBezTo>
                    <a:pt x="98552" y="81026"/>
                    <a:pt x="99949" y="78232"/>
                    <a:pt x="101219" y="75311"/>
                  </a:cubicBezTo>
                  <a:lnTo>
                    <a:pt x="101219" y="75311"/>
                  </a:lnTo>
                  <a:lnTo>
                    <a:pt x="101219" y="75311"/>
                  </a:lnTo>
                  <a:cubicBezTo>
                    <a:pt x="102362" y="72390"/>
                    <a:pt x="103378" y="69469"/>
                    <a:pt x="103886" y="66421"/>
                  </a:cubicBezTo>
                  <a:lnTo>
                    <a:pt x="108585" y="67310"/>
                  </a:lnTo>
                  <a:lnTo>
                    <a:pt x="103886" y="66421"/>
                  </a:lnTo>
                  <a:cubicBezTo>
                    <a:pt x="104521" y="63373"/>
                    <a:pt x="104775" y="60198"/>
                    <a:pt x="104775" y="5715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" name="Group 20"/>
          <p:cNvGrpSpPr>
            <a:grpSpLocks noChangeAspect="1"/>
          </p:cNvGrpSpPr>
          <p:nvPr/>
        </p:nvGrpSpPr>
        <p:grpSpPr>
          <a:xfrm>
            <a:off x="10874369" y="6355775"/>
            <a:ext cx="114300" cy="114300"/>
            <a:chOff x="0" y="0"/>
            <a:chExt cx="114300" cy="1143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14427" cy="114300"/>
            </a:xfrm>
            <a:custGeom>
              <a:avLst/>
              <a:gdLst/>
              <a:ahLst/>
              <a:cxnLst/>
              <a:rect l="l" t="t" r="r" b="b"/>
              <a:pathLst>
                <a:path w="114427" h="114300">
                  <a:moveTo>
                    <a:pt x="114300" y="57150"/>
                  </a:moveTo>
                  <a:cubicBezTo>
                    <a:pt x="114300" y="60960"/>
                    <a:pt x="113919" y="64643"/>
                    <a:pt x="113157" y="68326"/>
                  </a:cubicBezTo>
                  <a:lnTo>
                    <a:pt x="113157" y="68326"/>
                  </a:lnTo>
                  <a:lnTo>
                    <a:pt x="113157" y="68326"/>
                  </a:lnTo>
                  <a:cubicBezTo>
                    <a:pt x="112395" y="72009"/>
                    <a:pt x="111379" y="75565"/>
                    <a:pt x="109855" y="78994"/>
                  </a:cubicBezTo>
                  <a:lnTo>
                    <a:pt x="105410" y="77216"/>
                  </a:lnTo>
                  <a:lnTo>
                    <a:pt x="109855" y="78994"/>
                  </a:lnTo>
                  <a:cubicBezTo>
                    <a:pt x="108458" y="82423"/>
                    <a:pt x="106680" y="85725"/>
                    <a:pt x="104521" y="88900"/>
                  </a:cubicBezTo>
                  <a:lnTo>
                    <a:pt x="100584" y="86233"/>
                  </a:lnTo>
                  <a:lnTo>
                    <a:pt x="104521" y="88900"/>
                  </a:lnTo>
                  <a:cubicBezTo>
                    <a:pt x="102489" y="92075"/>
                    <a:pt x="100076" y="94869"/>
                    <a:pt x="97409" y="97536"/>
                  </a:cubicBezTo>
                  <a:lnTo>
                    <a:pt x="97409" y="97536"/>
                  </a:lnTo>
                  <a:lnTo>
                    <a:pt x="97409" y="97536"/>
                  </a:lnTo>
                  <a:cubicBezTo>
                    <a:pt x="94742" y="100203"/>
                    <a:pt x="91821" y="102616"/>
                    <a:pt x="88773" y="104648"/>
                  </a:cubicBezTo>
                  <a:lnTo>
                    <a:pt x="86106" y="100711"/>
                  </a:lnTo>
                  <a:lnTo>
                    <a:pt x="88773" y="104648"/>
                  </a:lnTo>
                  <a:cubicBezTo>
                    <a:pt x="85598" y="106680"/>
                    <a:pt x="82296" y="108458"/>
                    <a:pt x="78867" y="109982"/>
                  </a:cubicBezTo>
                  <a:lnTo>
                    <a:pt x="77089" y="105537"/>
                  </a:lnTo>
                  <a:lnTo>
                    <a:pt x="78867" y="109982"/>
                  </a:lnTo>
                  <a:cubicBezTo>
                    <a:pt x="75438" y="111379"/>
                    <a:pt x="71882" y="112522"/>
                    <a:pt x="68199" y="113284"/>
                  </a:cubicBezTo>
                  <a:lnTo>
                    <a:pt x="67310" y="108585"/>
                  </a:lnTo>
                  <a:lnTo>
                    <a:pt x="68199" y="113284"/>
                  </a:lnTo>
                  <a:cubicBezTo>
                    <a:pt x="64643" y="113919"/>
                    <a:pt x="60960" y="114300"/>
                    <a:pt x="57150" y="114300"/>
                  </a:cubicBezTo>
                  <a:lnTo>
                    <a:pt x="57150" y="114300"/>
                  </a:lnTo>
                  <a:lnTo>
                    <a:pt x="57150" y="114300"/>
                  </a:lnTo>
                  <a:cubicBezTo>
                    <a:pt x="53340" y="114300"/>
                    <a:pt x="49657" y="113919"/>
                    <a:pt x="45974" y="113157"/>
                  </a:cubicBezTo>
                  <a:lnTo>
                    <a:pt x="46863" y="108458"/>
                  </a:lnTo>
                  <a:lnTo>
                    <a:pt x="45974" y="113157"/>
                  </a:lnTo>
                  <a:cubicBezTo>
                    <a:pt x="42291" y="112395"/>
                    <a:pt x="38735" y="111379"/>
                    <a:pt x="35306" y="109855"/>
                  </a:cubicBezTo>
                  <a:lnTo>
                    <a:pt x="35306" y="109855"/>
                  </a:lnTo>
                  <a:lnTo>
                    <a:pt x="35306" y="109855"/>
                  </a:lnTo>
                  <a:cubicBezTo>
                    <a:pt x="31877" y="108458"/>
                    <a:pt x="28575" y="106680"/>
                    <a:pt x="25400" y="104521"/>
                  </a:cubicBezTo>
                  <a:lnTo>
                    <a:pt x="28067" y="100584"/>
                  </a:lnTo>
                  <a:lnTo>
                    <a:pt x="25400" y="104648"/>
                  </a:lnTo>
                  <a:cubicBezTo>
                    <a:pt x="22225" y="102616"/>
                    <a:pt x="19431" y="100203"/>
                    <a:pt x="16764" y="97536"/>
                  </a:cubicBezTo>
                  <a:lnTo>
                    <a:pt x="16764" y="97536"/>
                  </a:lnTo>
                  <a:lnTo>
                    <a:pt x="16764" y="97536"/>
                  </a:lnTo>
                  <a:cubicBezTo>
                    <a:pt x="14097" y="94869"/>
                    <a:pt x="11684" y="92075"/>
                    <a:pt x="9652" y="88900"/>
                  </a:cubicBezTo>
                  <a:lnTo>
                    <a:pt x="13589" y="86233"/>
                  </a:lnTo>
                  <a:lnTo>
                    <a:pt x="9652" y="88900"/>
                  </a:lnTo>
                  <a:cubicBezTo>
                    <a:pt x="7620" y="85725"/>
                    <a:pt x="5842" y="82423"/>
                    <a:pt x="4318" y="78994"/>
                  </a:cubicBezTo>
                  <a:lnTo>
                    <a:pt x="8763" y="77216"/>
                  </a:lnTo>
                  <a:lnTo>
                    <a:pt x="4318" y="78994"/>
                  </a:lnTo>
                  <a:cubicBezTo>
                    <a:pt x="2921" y="75565"/>
                    <a:pt x="1778" y="72009"/>
                    <a:pt x="1016" y="68326"/>
                  </a:cubicBezTo>
                  <a:lnTo>
                    <a:pt x="1016" y="68326"/>
                  </a:lnTo>
                  <a:lnTo>
                    <a:pt x="1016" y="68326"/>
                  </a:lnTo>
                  <a:cubicBezTo>
                    <a:pt x="381" y="64643"/>
                    <a:pt x="0" y="60960"/>
                    <a:pt x="0" y="57150"/>
                  </a:cubicBezTo>
                  <a:lnTo>
                    <a:pt x="4826" y="57150"/>
                  </a:lnTo>
                  <a:lnTo>
                    <a:pt x="0" y="57150"/>
                  </a:lnTo>
                  <a:cubicBezTo>
                    <a:pt x="0" y="53340"/>
                    <a:pt x="381" y="49657"/>
                    <a:pt x="1143" y="45974"/>
                  </a:cubicBezTo>
                  <a:lnTo>
                    <a:pt x="1143" y="45974"/>
                  </a:lnTo>
                  <a:lnTo>
                    <a:pt x="1143" y="45974"/>
                  </a:lnTo>
                  <a:cubicBezTo>
                    <a:pt x="1905" y="42291"/>
                    <a:pt x="2921" y="38735"/>
                    <a:pt x="4445" y="35306"/>
                  </a:cubicBezTo>
                  <a:lnTo>
                    <a:pt x="4445" y="35306"/>
                  </a:lnTo>
                  <a:lnTo>
                    <a:pt x="4445" y="35306"/>
                  </a:lnTo>
                  <a:cubicBezTo>
                    <a:pt x="5842" y="31750"/>
                    <a:pt x="7493" y="28575"/>
                    <a:pt x="9652" y="25400"/>
                  </a:cubicBezTo>
                  <a:lnTo>
                    <a:pt x="13589" y="28067"/>
                  </a:lnTo>
                  <a:lnTo>
                    <a:pt x="9652" y="25400"/>
                  </a:lnTo>
                  <a:cubicBezTo>
                    <a:pt x="11684" y="22225"/>
                    <a:pt x="14097" y="19431"/>
                    <a:pt x="16764" y="16764"/>
                  </a:cubicBezTo>
                  <a:lnTo>
                    <a:pt x="20193" y="20193"/>
                  </a:lnTo>
                  <a:lnTo>
                    <a:pt x="16764" y="16764"/>
                  </a:lnTo>
                  <a:cubicBezTo>
                    <a:pt x="19431" y="14097"/>
                    <a:pt x="22352" y="11684"/>
                    <a:pt x="25400" y="9652"/>
                  </a:cubicBezTo>
                  <a:lnTo>
                    <a:pt x="28067" y="13589"/>
                  </a:lnTo>
                  <a:lnTo>
                    <a:pt x="25400" y="9652"/>
                  </a:lnTo>
                  <a:cubicBezTo>
                    <a:pt x="28575" y="7620"/>
                    <a:pt x="31877" y="5842"/>
                    <a:pt x="35306" y="4318"/>
                  </a:cubicBezTo>
                  <a:lnTo>
                    <a:pt x="35306" y="4318"/>
                  </a:lnTo>
                  <a:lnTo>
                    <a:pt x="35306" y="4318"/>
                  </a:lnTo>
                  <a:cubicBezTo>
                    <a:pt x="38735" y="2921"/>
                    <a:pt x="42291" y="1778"/>
                    <a:pt x="45974" y="1016"/>
                  </a:cubicBezTo>
                  <a:lnTo>
                    <a:pt x="45974" y="1016"/>
                  </a:lnTo>
                  <a:lnTo>
                    <a:pt x="45974" y="1016"/>
                  </a:lnTo>
                  <a:cubicBezTo>
                    <a:pt x="49657" y="381"/>
                    <a:pt x="53340" y="0"/>
                    <a:pt x="57150" y="0"/>
                  </a:cubicBezTo>
                  <a:lnTo>
                    <a:pt x="57150" y="4826"/>
                  </a:lnTo>
                  <a:lnTo>
                    <a:pt x="57150" y="0"/>
                  </a:lnTo>
                  <a:cubicBezTo>
                    <a:pt x="60960" y="0"/>
                    <a:pt x="64643" y="381"/>
                    <a:pt x="68326" y="1143"/>
                  </a:cubicBezTo>
                  <a:lnTo>
                    <a:pt x="68326" y="1143"/>
                  </a:lnTo>
                  <a:lnTo>
                    <a:pt x="68326" y="1143"/>
                  </a:lnTo>
                  <a:cubicBezTo>
                    <a:pt x="72009" y="1905"/>
                    <a:pt x="75565" y="2921"/>
                    <a:pt x="78994" y="4445"/>
                  </a:cubicBezTo>
                  <a:lnTo>
                    <a:pt x="77216" y="8763"/>
                  </a:lnTo>
                  <a:lnTo>
                    <a:pt x="78994" y="4318"/>
                  </a:lnTo>
                  <a:cubicBezTo>
                    <a:pt x="82423" y="5715"/>
                    <a:pt x="85725" y="7493"/>
                    <a:pt x="88900" y="9652"/>
                  </a:cubicBezTo>
                  <a:lnTo>
                    <a:pt x="86233" y="13589"/>
                  </a:lnTo>
                  <a:lnTo>
                    <a:pt x="88900" y="9652"/>
                  </a:lnTo>
                  <a:cubicBezTo>
                    <a:pt x="92075" y="11684"/>
                    <a:pt x="94869" y="14097"/>
                    <a:pt x="97536" y="16764"/>
                  </a:cubicBezTo>
                  <a:lnTo>
                    <a:pt x="94107" y="20193"/>
                  </a:lnTo>
                  <a:lnTo>
                    <a:pt x="97536" y="16764"/>
                  </a:lnTo>
                  <a:cubicBezTo>
                    <a:pt x="100203" y="19431"/>
                    <a:pt x="102616" y="22352"/>
                    <a:pt x="104648" y="25400"/>
                  </a:cubicBezTo>
                  <a:lnTo>
                    <a:pt x="100711" y="28067"/>
                  </a:lnTo>
                  <a:lnTo>
                    <a:pt x="104648" y="25400"/>
                  </a:lnTo>
                  <a:cubicBezTo>
                    <a:pt x="106680" y="28575"/>
                    <a:pt x="108458" y="31877"/>
                    <a:pt x="109982" y="35306"/>
                  </a:cubicBezTo>
                  <a:lnTo>
                    <a:pt x="105537" y="37084"/>
                  </a:lnTo>
                  <a:lnTo>
                    <a:pt x="109982" y="35306"/>
                  </a:lnTo>
                  <a:cubicBezTo>
                    <a:pt x="111379" y="38735"/>
                    <a:pt x="112522" y="42291"/>
                    <a:pt x="113284" y="45974"/>
                  </a:cubicBezTo>
                  <a:lnTo>
                    <a:pt x="113284" y="45974"/>
                  </a:lnTo>
                  <a:lnTo>
                    <a:pt x="113284" y="45974"/>
                  </a:lnTo>
                  <a:cubicBezTo>
                    <a:pt x="114046" y="49657"/>
                    <a:pt x="114427" y="53340"/>
                    <a:pt x="114427" y="57150"/>
                  </a:cubicBezTo>
                  <a:lnTo>
                    <a:pt x="109474" y="57150"/>
                  </a:lnTo>
                  <a:lnTo>
                    <a:pt x="114300" y="57150"/>
                  </a:lnTo>
                  <a:moveTo>
                    <a:pt x="104775" y="57150"/>
                  </a:moveTo>
                  <a:cubicBezTo>
                    <a:pt x="104775" y="53975"/>
                    <a:pt x="104521" y="50927"/>
                    <a:pt x="103886" y="47879"/>
                  </a:cubicBezTo>
                  <a:lnTo>
                    <a:pt x="108585" y="46990"/>
                  </a:lnTo>
                  <a:lnTo>
                    <a:pt x="103886" y="47879"/>
                  </a:lnTo>
                  <a:cubicBezTo>
                    <a:pt x="103251" y="44831"/>
                    <a:pt x="102362" y="41783"/>
                    <a:pt x="101219" y="38989"/>
                  </a:cubicBezTo>
                  <a:lnTo>
                    <a:pt x="101219" y="38989"/>
                  </a:lnTo>
                  <a:lnTo>
                    <a:pt x="101219" y="38989"/>
                  </a:lnTo>
                  <a:cubicBezTo>
                    <a:pt x="100076" y="36068"/>
                    <a:pt x="98552" y="33401"/>
                    <a:pt x="96774" y="30734"/>
                  </a:cubicBezTo>
                  <a:cubicBezTo>
                    <a:pt x="94996" y="28067"/>
                    <a:pt x="93091" y="25781"/>
                    <a:pt x="90805" y="23495"/>
                  </a:cubicBezTo>
                  <a:lnTo>
                    <a:pt x="90805" y="23495"/>
                  </a:lnTo>
                  <a:lnTo>
                    <a:pt x="90805" y="23495"/>
                  </a:lnTo>
                  <a:cubicBezTo>
                    <a:pt x="88646" y="21336"/>
                    <a:pt x="86233" y="19304"/>
                    <a:pt x="83566" y="17526"/>
                  </a:cubicBezTo>
                  <a:lnTo>
                    <a:pt x="83566" y="17526"/>
                  </a:lnTo>
                  <a:lnTo>
                    <a:pt x="83566" y="17526"/>
                  </a:lnTo>
                  <a:cubicBezTo>
                    <a:pt x="81026" y="15748"/>
                    <a:pt x="78232" y="14351"/>
                    <a:pt x="75311" y="13081"/>
                  </a:cubicBezTo>
                  <a:cubicBezTo>
                    <a:pt x="72390" y="11811"/>
                    <a:pt x="69469" y="11049"/>
                    <a:pt x="66421" y="10414"/>
                  </a:cubicBezTo>
                  <a:lnTo>
                    <a:pt x="67310" y="5715"/>
                  </a:lnTo>
                  <a:lnTo>
                    <a:pt x="66421" y="10414"/>
                  </a:lnTo>
                  <a:cubicBezTo>
                    <a:pt x="63373" y="9779"/>
                    <a:pt x="60325" y="9525"/>
                    <a:pt x="57150" y="9525"/>
                  </a:cubicBezTo>
                  <a:cubicBezTo>
                    <a:pt x="53975" y="9525"/>
                    <a:pt x="50927" y="9779"/>
                    <a:pt x="47879" y="10414"/>
                  </a:cubicBezTo>
                  <a:lnTo>
                    <a:pt x="46990" y="5715"/>
                  </a:lnTo>
                  <a:lnTo>
                    <a:pt x="47879" y="10414"/>
                  </a:lnTo>
                  <a:cubicBezTo>
                    <a:pt x="44831" y="11049"/>
                    <a:pt x="41783" y="11938"/>
                    <a:pt x="38989" y="13081"/>
                  </a:cubicBezTo>
                  <a:lnTo>
                    <a:pt x="37084" y="8763"/>
                  </a:lnTo>
                  <a:lnTo>
                    <a:pt x="38862" y="13208"/>
                  </a:lnTo>
                  <a:cubicBezTo>
                    <a:pt x="35941" y="14351"/>
                    <a:pt x="33274" y="15875"/>
                    <a:pt x="30607" y="17653"/>
                  </a:cubicBezTo>
                  <a:cubicBezTo>
                    <a:pt x="27940" y="19431"/>
                    <a:pt x="25654" y="21336"/>
                    <a:pt x="23368" y="23622"/>
                  </a:cubicBezTo>
                  <a:lnTo>
                    <a:pt x="23368" y="23622"/>
                  </a:lnTo>
                  <a:lnTo>
                    <a:pt x="23368" y="23622"/>
                  </a:lnTo>
                  <a:cubicBezTo>
                    <a:pt x="21209" y="25781"/>
                    <a:pt x="19177" y="28194"/>
                    <a:pt x="17399" y="30861"/>
                  </a:cubicBezTo>
                  <a:lnTo>
                    <a:pt x="17399" y="30861"/>
                  </a:lnTo>
                  <a:lnTo>
                    <a:pt x="17399" y="30861"/>
                  </a:lnTo>
                  <a:cubicBezTo>
                    <a:pt x="15621" y="33401"/>
                    <a:pt x="14224" y="36195"/>
                    <a:pt x="12954" y="39116"/>
                  </a:cubicBezTo>
                  <a:lnTo>
                    <a:pt x="8763" y="37084"/>
                  </a:lnTo>
                  <a:lnTo>
                    <a:pt x="13208" y="38862"/>
                  </a:lnTo>
                  <a:cubicBezTo>
                    <a:pt x="12065" y="41783"/>
                    <a:pt x="11049" y="44704"/>
                    <a:pt x="10541" y="47752"/>
                  </a:cubicBezTo>
                  <a:lnTo>
                    <a:pt x="5715" y="46990"/>
                  </a:lnTo>
                  <a:lnTo>
                    <a:pt x="10414" y="47879"/>
                  </a:lnTo>
                  <a:cubicBezTo>
                    <a:pt x="9779" y="50927"/>
                    <a:pt x="9525" y="54102"/>
                    <a:pt x="9525" y="57150"/>
                  </a:cubicBezTo>
                  <a:cubicBezTo>
                    <a:pt x="9525" y="60198"/>
                    <a:pt x="9779" y="63373"/>
                    <a:pt x="10414" y="66421"/>
                  </a:cubicBezTo>
                  <a:lnTo>
                    <a:pt x="5715" y="67310"/>
                  </a:lnTo>
                  <a:lnTo>
                    <a:pt x="10414" y="66421"/>
                  </a:lnTo>
                  <a:cubicBezTo>
                    <a:pt x="11049" y="69469"/>
                    <a:pt x="11938" y="72517"/>
                    <a:pt x="13081" y="75311"/>
                  </a:cubicBezTo>
                  <a:lnTo>
                    <a:pt x="13081" y="75311"/>
                  </a:lnTo>
                  <a:lnTo>
                    <a:pt x="13081" y="75311"/>
                  </a:lnTo>
                  <a:cubicBezTo>
                    <a:pt x="14224" y="78232"/>
                    <a:pt x="15748" y="80899"/>
                    <a:pt x="17526" y="83566"/>
                  </a:cubicBezTo>
                  <a:lnTo>
                    <a:pt x="17526" y="83566"/>
                  </a:lnTo>
                  <a:lnTo>
                    <a:pt x="17526" y="83566"/>
                  </a:lnTo>
                  <a:cubicBezTo>
                    <a:pt x="19304" y="86106"/>
                    <a:pt x="21209" y="88519"/>
                    <a:pt x="23495" y="90805"/>
                  </a:cubicBezTo>
                  <a:lnTo>
                    <a:pt x="20066" y="94234"/>
                  </a:lnTo>
                  <a:lnTo>
                    <a:pt x="23495" y="90805"/>
                  </a:lnTo>
                  <a:cubicBezTo>
                    <a:pt x="25654" y="92964"/>
                    <a:pt x="28067" y="94996"/>
                    <a:pt x="30734" y="96774"/>
                  </a:cubicBezTo>
                  <a:cubicBezTo>
                    <a:pt x="33401" y="98552"/>
                    <a:pt x="36068" y="99949"/>
                    <a:pt x="38989" y="101219"/>
                  </a:cubicBezTo>
                  <a:lnTo>
                    <a:pt x="37211" y="105664"/>
                  </a:lnTo>
                  <a:lnTo>
                    <a:pt x="38989" y="101219"/>
                  </a:lnTo>
                  <a:cubicBezTo>
                    <a:pt x="41910" y="102362"/>
                    <a:pt x="44831" y="103378"/>
                    <a:pt x="47879" y="103886"/>
                  </a:cubicBezTo>
                  <a:cubicBezTo>
                    <a:pt x="50927" y="104394"/>
                    <a:pt x="54102" y="104775"/>
                    <a:pt x="57150" y="104775"/>
                  </a:cubicBezTo>
                  <a:lnTo>
                    <a:pt x="57150" y="109474"/>
                  </a:lnTo>
                  <a:lnTo>
                    <a:pt x="57150" y="104775"/>
                  </a:lnTo>
                  <a:cubicBezTo>
                    <a:pt x="60325" y="104775"/>
                    <a:pt x="63373" y="104521"/>
                    <a:pt x="66421" y="103886"/>
                  </a:cubicBezTo>
                  <a:cubicBezTo>
                    <a:pt x="69469" y="103251"/>
                    <a:pt x="72517" y="102362"/>
                    <a:pt x="75311" y="101219"/>
                  </a:cubicBezTo>
                  <a:cubicBezTo>
                    <a:pt x="78105" y="100076"/>
                    <a:pt x="80899" y="98552"/>
                    <a:pt x="83566" y="96774"/>
                  </a:cubicBezTo>
                  <a:lnTo>
                    <a:pt x="83566" y="96774"/>
                  </a:lnTo>
                  <a:lnTo>
                    <a:pt x="83566" y="96774"/>
                  </a:lnTo>
                  <a:cubicBezTo>
                    <a:pt x="86106" y="94996"/>
                    <a:pt x="88519" y="93091"/>
                    <a:pt x="90805" y="90805"/>
                  </a:cubicBezTo>
                  <a:lnTo>
                    <a:pt x="94234" y="94234"/>
                  </a:lnTo>
                  <a:lnTo>
                    <a:pt x="90805" y="90805"/>
                  </a:lnTo>
                  <a:cubicBezTo>
                    <a:pt x="92964" y="88646"/>
                    <a:pt x="94996" y="86233"/>
                    <a:pt x="96774" y="83566"/>
                  </a:cubicBezTo>
                  <a:lnTo>
                    <a:pt x="96774" y="83566"/>
                  </a:lnTo>
                  <a:lnTo>
                    <a:pt x="96774" y="83566"/>
                  </a:lnTo>
                  <a:cubicBezTo>
                    <a:pt x="98552" y="81026"/>
                    <a:pt x="99949" y="78232"/>
                    <a:pt x="101219" y="75311"/>
                  </a:cubicBezTo>
                  <a:lnTo>
                    <a:pt x="101219" y="75311"/>
                  </a:lnTo>
                  <a:lnTo>
                    <a:pt x="101219" y="75311"/>
                  </a:lnTo>
                  <a:cubicBezTo>
                    <a:pt x="102362" y="72390"/>
                    <a:pt x="103378" y="69469"/>
                    <a:pt x="103886" y="66421"/>
                  </a:cubicBezTo>
                  <a:lnTo>
                    <a:pt x="108585" y="67310"/>
                  </a:lnTo>
                  <a:lnTo>
                    <a:pt x="103886" y="66421"/>
                  </a:lnTo>
                  <a:cubicBezTo>
                    <a:pt x="104521" y="63373"/>
                    <a:pt x="104775" y="60198"/>
                    <a:pt x="104775" y="5715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6687267" y="9806388"/>
            <a:ext cx="1192054" cy="2390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29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9349" y="3786645"/>
            <a:ext cx="6254220" cy="117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5"/>
              </a:lnSpc>
            </a:pPr>
            <a:r>
              <a:rPr lang="en-US" sz="328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Compiled all project findings from Week 1 to Week 3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9349" y="5472570"/>
            <a:ext cx="7131968" cy="1176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5"/>
              </a:lnSpc>
            </a:pPr>
            <a:r>
              <a:rPr lang="en-US" sz="3285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Organized configuration steps, policies, NAT rules, and screenshots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605333" y="977989"/>
            <a:ext cx="9083459" cy="1740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50"/>
              </a:lnSpc>
            </a:pPr>
            <a:r>
              <a:rPr lang="en-US" sz="597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Week 4 </a:t>
            </a:r>
          </a:p>
          <a:p>
            <a:pPr algn="ctr">
              <a:lnSpc>
                <a:spcPts val="12671"/>
              </a:lnSpc>
            </a:pPr>
            <a:r>
              <a:rPr lang="en-US" sz="5979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Presentation &amp; Final Report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418216" y="3680136"/>
            <a:ext cx="7048443" cy="1229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33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Structured a professional presentation summarizing: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47917" y="4880286"/>
            <a:ext cx="4471988" cy="18200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33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Threat analysis FortiGate configuration Policies &amp; NAT Testing 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755453" y="7805205"/>
            <a:ext cx="6783219" cy="1229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4"/>
              </a:lnSpc>
            </a:pPr>
            <a:r>
              <a:rPr lang="en-US" sz="3379">
                <a:solidFill>
                  <a:srgbClr val="FFFFFF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Ensured all tasks meet the project requirements and learning objectives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-342900"/>
            <a:ext cx="18288000" cy="10972800"/>
          </a:xfrm>
          <a:custGeom>
            <a:avLst/>
            <a:gdLst/>
            <a:ahLst/>
            <a:cxnLst/>
            <a:rect l="l" t="t" r="r" b="b"/>
            <a:pathLst>
              <a:path w="18288000" h="10972800">
                <a:moveTo>
                  <a:pt x="0" y="0"/>
                </a:moveTo>
                <a:lnTo>
                  <a:pt x="18288000" y="0"/>
                </a:lnTo>
                <a:lnTo>
                  <a:pt x="18288000" y="10972800"/>
                </a:lnTo>
                <a:lnTo>
                  <a:pt x="0" y="10972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>
            <a:grpSpLocks noChangeAspect="1"/>
          </p:cNvGrpSpPr>
          <p:nvPr/>
        </p:nvGrpSpPr>
        <p:grpSpPr>
          <a:xfrm>
            <a:off x="-63503" y="9424902"/>
            <a:ext cx="2316918" cy="928649"/>
            <a:chOff x="0" y="0"/>
            <a:chExt cx="2316912" cy="928649"/>
          </a:xfrm>
        </p:grpSpPr>
        <p:sp>
          <p:nvSpPr>
            <p:cNvPr id="4" name="Freeform 4"/>
            <p:cNvSpPr/>
            <p:nvPr/>
          </p:nvSpPr>
          <p:spPr>
            <a:xfrm>
              <a:off x="63500" y="63500"/>
              <a:ext cx="2189861" cy="798576"/>
            </a:xfrm>
            <a:custGeom>
              <a:avLst/>
              <a:gdLst/>
              <a:ahLst/>
              <a:cxnLst/>
              <a:rect l="l" t="t" r="r" b="b"/>
              <a:pathLst>
                <a:path w="2189861" h="798576">
                  <a:moveTo>
                    <a:pt x="0" y="0"/>
                  </a:moveTo>
                  <a:lnTo>
                    <a:pt x="0" y="798576"/>
                  </a:lnTo>
                  <a:lnTo>
                    <a:pt x="2189861" y="798576"/>
                  </a:lnTo>
                  <a:lnTo>
                    <a:pt x="2189861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Freeform 5"/>
            <p:cNvSpPr/>
            <p:nvPr/>
          </p:nvSpPr>
          <p:spPr>
            <a:xfrm>
              <a:off x="981043" y="297180"/>
              <a:ext cx="728758" cy="340487"/>
            </a:xfrm>
            <a:custGeom>
              <a:avLst/>
              <a:gdLst/>
              <a:ahLst/>
              <a:cxnLst/>
              <a:rect l="l" t="t" r="r" b="b"/>
              <a:pathLst>
                <a:path w="728758" h="340487">
                  <a:moveTo>
                    <a:pt x="170212" y="0"/>
                  </a:moveTo>
                  <a:cubicBezTo>
                    <a:pt x="163608" y="0"/>
                    <a:pt x="157004" y="2540"/>
                    <a:pt x="151924" y="7493"/>
                  </a:cubicBezTo>
                  <a:lnTo>
                    <a:pt x="7525" y="152273"/>
                  </a:lnTo>
                  <a:cubicBezTo>
                    <a:pt x="-2508" y="162306"/>
                    <a:pt x="-2508" y="178816"/>
                    <a:pt x="7525" y="188722"/>
                  </a:cubicBezTo>
                  <a:lnTo>
                    <a:pt x="151924" y="333248"/>
                  </a:lnTo>
                  <a:cubicBezTo>
                    <a:pt x="155861" y="337185"/>
                    <a:pt x="160814" y="339598"/>
                    <a:pt x="166021" y="340487"/>
                  </a:cubicBezTo>
                  <a:lnTo>
                    <a:pt x="174911" y="340487"/>
                  </a:lnTo>
                  <a:cubicBezTo>
                    <a:pt x="179991" y="339598"/>
                    <a:pt x="184817" y="337312"/>
                    <a:pt x="188881" y="333629"/>
                  </a:cubicBezTo>
                  <a:cubicBezTo>
                    <a:pt x="193707" y="328422"/>
                    <a:pt x="196374" y="321945"/>
                    <a:pt x="196374" y="315214"/>
                  </a:cubicBezTo>
                  <a:cubicBezTo>
                    <a:pt x="196374" y="308483"/>
                    <a:pt x="194088" y="302006"/>
                    <a:pt x="188881" y="296799"/>
                  </a:cubicBezTo>
                  <a:lnTo>
                    <a:pt x="88297" y="196215"/>
                  </a:lnTo>
                  <a:lnTo>
                    <a:pt x="702850" y="196215"/>
                  </a:lnTo>
                  <a:cubicBezTo>
                    <a:pt x="717074" y="196215"/>
                    <a:pt x="728758" y="184531"/>
                    <a:pt x="728758" y="170307"/>
                  </a:cubicBezTo>
                  <a:cubicBezTo>
                    <a:pt x="728758" y="156083"/>
                    <a:pt x="717074" y="144399"/>
                    <a:pt x="702850" y="144399"/>
                  </a:cubicBezTo>
                  <a:lnTo>
                    <a:pt x="87916" y="144399"/>
                  </a:lnTo>
                  <a:lnTo>
                    <a:pt x="188373" y="43942"/>
                  </a:lnTo>
                  <a:cubicBezTo>
                    <a:pt x="198406" y="33909"/>
                    <a:pt x="198406" y="17399"/>
                    <a:pt x="188373" y="7493"/>
                  </a:cubicBezTo>
                  <a:cubicBezTo>
                    <a:pt x="183420" y="2540"/>
                    <a:pt x="176689" y="0"/>
                    <a:pt x="17008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16321764" y="9615830"/>
            <a:ext cx="1969284" cy="674218"/>
            <a:chOff x="0" y="0"/>
            <a:chExt cx="1969287" cy="67421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66214" cy="671195"/>
            </a:xfrm>
            <a:custGeom>
              <a:avLst/>
              <a:gdLst/>
              <a:ahLst/>
              <a:cxnLst/>
              <a:rect l="l" t="t" r="r" b="b"/>
              <a:pathLst>
                <a:path w="1966214" h="671195">
                  <a:moveTo>
                    <a:pt x="0" y="0"/>
                  </a:moveTo>
                  <a:lnTo>
                    <a:pt x="0" y="671195"/>
                  </a:lnTo>
                  <a:lnTo>
                    <a:pt x="1966214" y="671195"/>
                  </a:lnTo>
                  <a:lnTo>
                    <a:pt x="1966214" y="0"/>
                  </a:lnTo>
                  <a:close/>
                </a:path>
              </a:pathLst>
            </a:custGeom>
            <a:solidFill>
              <a:srgbClr val="5EC2D4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8"/>
          <p:cNvSpPr/>
          <p:nvPr/>
        </p:nvSpPr>
        <p:spPr>
          <a:xfrm>
            <a:off x="996696" y="4526280"/>
            <a:ext cx="16038576" cy="2865120"/>
          </a:xfrm>
          <a:custGeom>
            <a:avLst/>
            <a:gdLst/>
            <a:ahLst/>
            <a:cxnLst/>
            <a:rect l="l" t="t" r="r" b="b"/>
            <a:pathLst>
              <a:path w="16038576" h="2865120">
                <a:moveTo>
                  <a:pt x="0" y="0"/>
                </a:moveTo>
                <a:lnTo>
                  <a:pt x="16038576" y="0"/>
                </a:lnTo>
                <a:lnTo>
                  <a:pt x="16038576" y="2865120"/>
                </a:lnTo>
                <a:lnTo>
                  <a:pt x="0" y="28651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914829" y="9719558"/>
            <a:ext cx="731653" cy="345872"/>
            <a:chOff x="0" y="0"/>
            <a:chExt cx="731660" cy="34587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731647" cy="345821"/>
            </a:xfrm>
            <a:custGeom>
              <a:avLst/>
              <a:gdLst/>
              <a:ahLst/>
              <a:cxnLst/>
              <a:rect l="l" t="t" r="r" b="b"/>
              <a:pathLst>
                <a:path w="731647" h="345821">
                  <a:moveTo>
                    <a:pt x="0" y="345821"/>
                  </a:moveTo>
                  <a:lnTo>
                    <a:pt x="731647" y="345821"/>
                  </a:lnTo>
                  <a:lnTo>
                    <a:pt x="73164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16687819" y="9806388"/>
            <a:ext cx="1165717" cy="251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048"/>
              </a:lnSpc>
            </a:pPr>
            <a:r>
              <a:rPr lang="en-US" sz="1463" b="1" spc="379">
                <a:solidFill>
                  <a:srgbClr val="FFFFFF"/>
                </a:solidFill>
                <a:latin typeface="TT Lakes Neue Bold"/>
                <a:ea typeface="TT Lakes Neue Bold"/>
                <a:cs typeface="TT Lakes Neue Bold"/>
                <a:sym typeface="TT Lakes Neue Bold"/>
              </a:rPr>
              <a:t>PAGE 30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94956" y="4471845"/>
            <a:ext cx="14987639" cy="3143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205"/>
              </a:lnSpc>
            </a:pPr>
            <a:r>
              <a:rPr lang="en-US" sz="3486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We sincerely appreciate your time and the opportunity to present our work.</a:t>
            </a:r>
          </a:p>
          <a:p>
            <a:pPr algn="ctr">
              <a:lnSpc>
                <a:spcPts val="6205"/>
              </a:lnSpc>
            </a:pPr>
            <a:r>
              <a:rPr lang="en-US" sz="3486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This project has been a valuable experience for us to grow technically and professionally as future security engineers.</a:t>
            </a:r>
          </a:p>
          <a:p>
            <a:pPr algn="ctr">
              <a:lnSpc>
                <a:spcPts val="6205"/>
              </a:lnSpc>
            </a:pPr>
            <a:r>
              <a:rPr lang="en-US" sz="3486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 Thank you for your guidance and support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540416" y="1419958"/>
            <a:ext cx="6669805" cy="2451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9786"/>
              </a:lnSpc>
            </a:pPr>
            <a:r>
              <a:rPr lang="en-US" sz="11178" b="1">
                <a:solidFill>
                  <a:srgbClr val="FFFFFF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1106</Words>
  <Application>Microsoft Office PowerPoint</Application>
  <PresentationFormat>Custom</PresentationFormat>
  <Paragraphs>179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41" baseType="lpstr">
      <vt:lpstr>Raleway</vt:lpstr>
      <vt:lpstr>Arial</vt:lpstr>
      <vt:lpstr>Times New Roman MT</vt:lpstr>
      <vt:lpstr>Georgia Pro Bold</vt:lpstr>
      <vt:lpstr>TT Lakes Neue Bold</vt:lpstr>
      <vt:lpstr>Times New Roman MT Bold</vt:lpstr>
      <vt:lpstr>Anton</vt:lpstr>
      <vt:lpstr>Times New Roman MT Italics</vt:lpstr>
      <vt:lpstr>Calibri</vt:lpstr>
      <vt:lpstr>Raleway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Final Presentation.pdf</dc:title>
  <cp:lastModifiedBy>روضه ايمن سعد راشد</cp:lastModifiedBy>
  <cp:revision>2</cp:revision>
  <dcterms:created xsi:type="dcterms:W3CDTF">2006-08-16T00:00:00Z</dcterms:created>
  <dcterms:modified xsi:type="dcterms:W3CDTF">2025-12-11T11:40:55Z</dcterms:modified>
  <dc:identifier>DAG7IOlgyh0</dc:identifier>
</cp:coreProperties>
</file>